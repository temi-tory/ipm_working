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5" r:id="rId1"/>
  </p:sldMasterIdLst>
  <p:notesMasterIdLst>
    <p:notesMasterId r:id="rId44"/>
  </p:notesMasterIdLst>
  <p:handoutMasterIdLst>
    <p:handoutMasterId r:id="rId45"/>
  </p:handoutMasterIdLst>
  <p:sldIdLst>
    <p:sldId id="547" r:id="rId2"/>
    <p:sldId id="559" r:id="rId3"/>
    <p:sldId id="577" r:id="rId4"/>
    <p:sldId id="584" r:id="rId5"/>
    <p:sldId id="591" r:id="rId6"/>
    <p:sldId id="581" r:id="rId7"/>
    <p:sldId id="585" r:id="rId8"/>
    <p:sldId id="583" r:id="rId9"/>
    <p:sldId id="586" r:id="rId10"/>
    <p:sldId id="588" r:id="rId11"/>
    <p:sldId id="589" r:id="rId12"/>
    <p:sldId id="590" r:id="rId13"/>
    <p:sldId id="592" r:id="rId14"/>
    <p:sldId id="593" r:id="rId15"/>
    <p:sldId id="594" r:id="rId16"/>
    <p:sldId id="595" r:id="rId17"/>
    <p:sldId id="597" r:id="rId18"/>
    <p:sldId id="599" r:id="rId19"/>
    <p:sldId id="600" r:id="rId20"/>
    <p:sldId id="602" r:id="rId21"/>
    <p:sldId id="603" r:id="rId22"/>
    <p:sldId id="604" r:id="rId23"/>
    <p:sldId id="611" r:id="rId24"/>
    <p:sldId id="620" r:id="rId25"/>
    <p:sldId id="615" r:id="rId26"/>
    <p:sldId id="613" r:id="rId27"/>
    <p:sldId id="617" r:id="rId28"/>
    <p:sldId id="618" r:id="rId29"/>
    <p:sldId id="619" r:id="rId30"/>
    <p:sldId id="621" r:id="rId31"/>
    <p:sldId id="626" r:id="rId32"/>
    <p:sldId id="627" r:id="rId33"/>
    <p:sldId id="633" r:id="rId34"/>
    <p:sldId id="632" r:id="rId35"/>
    <p:sldId id="631" r:id="rId36"/>
    <p:sldId id="630" r:id="rId37"/>
    <p:sldId id="629" r:id="rId38"/>
    <p:sldId id="628" r:id="rId39"/>
    <p:sldId id="700" r:id="rId40"/>
    <p:sldId id="701" r:id="rId41"/>
    <p:sldId id="702" r:id="rId42"/>
    <p:sldId id="625" r:id="rId43"/>
  </p:sldIdLst>
  <p:sldSz cx="12192000" cy="6858000"/>
  <p:notesSz cx="6858000" cy="9144000"/>
  <p:defaultTextStyle>
    <a:defPPr>
      <a:defRPr lang="en-US"/>
    </a:defPPr>
    <a:lvl1pPr marL="0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65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30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95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60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25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990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155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320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alance" id="{705054ED-DB56-FA4C-BB16-D35BDEFFF4C1}">
          <p14:sldIdLst>
            <p14:sldId id="547"/>
            <p14:sldId id="559"/>
            <p14:sldId id="577"/>
            <p14:sldId id="584"/>
            <p14:sldId id="591"/>
            <p14:sldId id="581"/>
            <p14:sldId id="585"/>
            <p14:sldId id="583"/>
            <p14:sldId id="586"/>
            <p14:sldId id="588"/>
            <p14:sldId id="589"/>
            <p14:sldId id="590"/>
            <p14:sldId id="592"/>
            <p14:sldId id="593"/>
            <p14:sldId id="594"/>
            <p14:sldId id="595"/>
            <p14:sldId id="597"/>
            <p14:sldId id="599"/>
            <p14:sldId id="600"/>
            <p14:sldId id="602"/>
            <p14:sldId id="603"/>
            <p14:sldId id="604"/>
            <p14:sldId id="611"/>
            <p14:sldId id="620"/>
            <p14:sldId id="615"/>
            <p14:sldId id="613"/>
            <p14:sldId id="617"/>
            <p14:sldId id="618"/>
            <p14:sldId id="619"/>
            <p14:sldId id="621"/>
            <p14:sldId id="626"/>
            <p14:sldId id="627"/>
            <p14:sldId id="633"/>
            <p14:sldId id="632"/>
            <p14:sldId id="631"/>
            <p14:sldId id="630"/>
            <p14:sldId id="629"/>
            <p14:sldId id="628"/>
            <p14:sldId id="700"/>
            <p14:sldId id="701"/>
            <p14:sldId id="702"/>
            <p14:sldId id="62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B3D1699-0C08-3867-F025-84072A4926B3}" name="Temitope Ohiani" initials="TO" userId="S::temitope.ohiani@strath.ac.uk::02b4edac-1b30-400e-8a36-e85a5fccea8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8B1"/>
    <a:srgbClr val="2C2928"/>
    <a:srgbClr val="0176AD"/>
    <a:srgbClr val="BBBBBB"/>
    <a:srgbClr val="FFFFFF"/>
    <a:srgbClr val="336699"/>
    <a:srgbClr val="BCE9FF"/>
    <a:srgbClr val="CEC2D4"/>
    <a:srgbClr val="A19BA4"/>
    <a:srgbClr val="B3DF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442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81" y="9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8/10/relationships/authors" Target="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mitope Ohiani" userId="02b4edac-1b30-400e-8a36-e85a5fccea84" providerId="ADAL" clId="{77CDA1A5-F828-441C-8F0E-71854E9E63B4}"/>
    <pc:docChg chg="custSel modSld">
      <pc:chgData name="Temitope Ohiani" userId="02b4edac-1b30-400e-8a36-e85a5fccea84" providerId="ADAL" clId="{77CDA1A5-F828-441C-8F0E-71854E9E63B4}" dt="2026-06-21T16:22:58.124" v="14" actId="14100"/>
      <pc:docMkLst>
        <pc:docMk/>
      </pc:docMkLst>
      <pc:sldChg chg="addSp delSp modSp mod">
        <pc:chgData name="Temitope Ohiani" userId="02b4edac-1b30-400e-8a36-e85a5fccea84" providerId="ADAL" clId="{77CDA1A5-F828-441C-8F0E-71854E9E63B4}" dt="2026-06-21T16:22:58.124" v="14" actId="14100"/>
        <pc:sldMkLst>
          <pc:docMk/>
          <pc:sldMk cId="3352150290" sldId="701"/>
        </pc:sldMkLst>
        <pc:picChg chg="add mod">
          <ac:chgData name="Temitope Ohiani" userId="02b4edac-1b30-400e-8a36-e85a5fccea84" providerId="ADAL" clId="{77CDA1A5-F828-441C-8F0E-71854E9E63B4}" dt="2026-06-21T16:22:58.124" v="14" actId="14100"/>
          <ac:picMkLst>
            <pc:docMk/>
            <pc:sldMk cId="3352150290" sldId="701"/>
            <ac:picMk id="5" creationId="{7B392C7A-6ECE-A9A2-A263-FB1BDC1FA0CC}"/>
          </ac:picMkLst>
        </pc:picChg>
        <pc:picChg chg="del">
          <ac:chgData name="Temitope Ohiani" userId="02b4edac-1b30-400e-8a36-e85a5fccea84" providerId="ADAL" clId="{77CDA1A5-F828-441C-8F0E-71854E9E63B4}" dt="2026-06-21T16:22:37.357" v="7" actId="478"/>
          <ac:picMkLst>
            <pc:docMk/>
            <pc:sldMk cId="3352150290" sldId="701"/>
            <ac:picMk id="12" creationId="{B4A3D6AA-B220-D15B-F1EE-7DFB7182BA50}"/>
          </ac:picMkLst>
        </pc:picChg>
      </pc:sldChg>
      <pc:sldChg chg="addSp delSp modSp mod">
        <pc:chgData name="Temitope Ohiani" userId="02b4edac-1b30-400e-8a36-e85a5fccea84" providerId="ADAL" clId="{77CDA1A5-F828-441C-8F0E-71854E9E63B4}" dt="2026-06-21T16:19:41.687" v="6" actId="1076"/>
        <pc:sldMkLst>
          <pc:docMk/>
          <pc:sldMk cId="3352150290" sldId="702"/>
        </pc:sldMkLst>
        <pc:picChg chg="add mod">
          <ac:chgData name="Temitope Ohiani" userId="02b4edac-1b30-400e-8a36-e85a5fccea84" providerId="ADAL" clId="{77CDA1A5-F828-441C-8F0E-71854E9E63B4}" dt="2026-06-21T16:19:41.687" v="6" actId="1076"/>
          <ac:picMkLst>
            <pc:docMk/>
            <pc:sldMk cId="3352150290" sldId="702"/>
            <ac:picMk id="5" creationId="{3D1846EB-9A4F-3890-AFD2-D9CD4DEF59EA}"/>
          </ac:picMkLst>
        </pc:picChg>
        <pc:picChg chg="del">
          <ac:chgData name="Temitope Ohiani" userId="02b4edac-1b30-400e-8a36-e85a5fccea84" providerId="ADAL" clId="{77CDA1A5-F828-441C-8F0E-71854E9E63B4}" dt="2026-06-21T16:19:25.198" v="0" actId="478"/>
          <ac:picMkLst>
            <pc:docMk/>
            <pc:sldMk cId="3352150290" sldId="702"/>
            <ac:picMk id="12" creationId="{B4A3D6AA-B220-D15B-F1EE-7DFB7182BA5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40EBAF-D955-C443-AB02-2BCBC7797572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1DC8B-0A09-DC4E-ABCE-FAAA12F030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5749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7A641A-FC50-3840-A830-42D90553FE8C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896355-3DDC-9949-861F-AD0908BFCC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77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896355-3DDC-9949-861F-AD0908BFCC2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9693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14B7A-031A-E1D9-2160-D65130791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3F56B3-D312-8112-817E-0B93AD4955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DA9D0C-A4D3-8068-0010-0B5F47F670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0EB3CA-A3E8-2039-77B2-C778C7C17F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896355-3DDC-9949-861F-AD0908BFCC2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5321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A8011-C1E0-2280-0B18-C71A49E66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5A36A9-933C-6E5E-31AD-0D0FB90CB1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1AA06D-4D3C-1D5A-69E6-4A835C501B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Why DAGS? </a:t>
            </a:r>
          </a:p>
          <a:p>
            <a:r>
              <a:rPr lang="en-GB"/>
              <a:t>Properties of DAG?</a:t>
            </a:r>
          </a:p>
          <a:p>
            <a:r>
              <a:rPr lang="en-GB"/>
              <a:t>Leads to </a:t>
            </a:r>
            <a:r>
              <a:rPr lang="en-GB" err="1"/>
              <a:t>Propagtion</a:t>
            </a:r>
            <a:r>
              <a:rPr lang="en-GB"/>
              <a:t> Order</a:t>
            </a:r>
          </a:p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892F23-4141-0D15-907F-D6665B1604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896355-3DDC-9949-861F-AD0908BFCC2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516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AFBFF-4BAC-2968-6685-E8A25DDE0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890AC7-2F7A-4907-03D6-B32442AE59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96B4EF-EB98-8246-7333-A8B4436B64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Why DAGS? </a:t>
            </a:r>
          </a:p>
          <a:p>
            <a:r>
              <a:rPr lang="en-GB"/>
              <a:t>Properties of DAG?</a:t>
            </a:r>
          </a:p>
          <a:p>
            <a:r>
              <a:rPr lang="en-GB"/>
              <a:t>Leads to </a:t>
            </a:r>
            <a:r>
              <a:rPr lang="en-GB" err="1"/>
              <a:t>Propagtion</a:t>
            </a:r>
            <a:r>
              <a:rPr lang="en-GB"/>
              <a:t> Order</a:t>
            </a:r>
          </a:p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D221BF-9E9A-5CCC-9031-7FEF3F0FD3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896355-3DDC-9949-861F-AD0908BFCC2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4144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E0CCD-0439-A4EA-A0EA-52A2A09A8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1C66DE-C296-9651-64B2-3920710E0C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CC875B-C43B-FB9F-3190-54C2105C09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Why DAGS? </a:t>
            </a:r>
          </a:p>
          <a:p>
            <a:r>
              <a:rPr lang="en-GB" dirty="0"/>
              <a:t>Properties of DAG?</a:t>
            </a:r>
          </a:p>
          <a:p>
            <a:r>
              <a:rPr lang="en-GB" dirty="0"/>
              <a:t>Leads to </a:t>
            </a:r>
            <a:r>
              <a:rPr lang="en-GB" dirty="0" err="1"/>
              <a:t>Propagtion</a:t>
            </a:r>
            <a:r>
              <a:rPr lang="en-GB" dirty="0"/>
              <a:t> Order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B5D018-20EA-1668-9B13-076CF59E31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896355-3DDC-9949-861F-AD0908BFCC2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8540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702EC-0D2F-2904-C02B-A878A4D76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67F135-7DE8-8446-A9AD-46D59EB886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78ADD7-3B23-AEFA-6C5B-212C720EBE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Why DAGS? </a:t>
            </a:r>
          </a:p>
          <a:p>
            <a:r>
              <a:rPr lang="en-GB"/>
              <a:t>Properties of DAG?</a:t>
            </a:r>
          </a:p>
          <a:p>
            <a:r>
              <a:rPr lang="en-GB"/>
              <a:t>Leads to </a:t>
            </a:r>
            <a:r>
              <a:rPr lang="en-GB" err="1"/>
              <a:t>Propagtion</a:t>
            </a:r>
            <a:r>
              <a:rPr lang="en-GB"/>
              <a:t> Order</a:t>
            </a:r>
          </a:p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F8FA92-688B-525D-4A97-1EAC8453AE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896355-3DDC-9949-861F-AD0908BFCC2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5100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65490-6582-B396-DD5E-EDBADBE8D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7FEFC4-4AD3-3B46-C2F3-C5E3BD3DA6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3CD758-7592-3C8F-8BD1-46785C69C7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Why DAGS? </a:t>
            </a:r>
          </a:p>
          <a:p>
            <a:r>
              <a:rPr lang="en-GB"/>
              <a:t>Properties of DAG?</a:t>
            </a:r>
          </a:p>
          <a:p>
            <a:r>
              <a:rPr lang="en-GB"/>
              <a:t>Leads to </a:t>
            </a:r>
            <a:r>
              <a:rPr lang="en-GB" err="1"/>
              <a:t>Propagtion</a:t>
            </a:r>
            <a:r>
              <a:rPr lang="en-GB"/>
              <a:t> Order</a:t>
            </a:r>
          </a:p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528BD2-928F-9572-E984-B61D1E2A17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896355-3DDC-9949-861F-AD0908BFCC2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0288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CF834-14E7-5015-D0BA-5E3DAA5C0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DA264F-75FF-6D81-6EFD-08424666B7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9D4022-14D9-0605-00E7-5FDC67ED95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Why DAGS? </a:t>
            </a:r>
          </a:p>
          <a:p>
            <a:r>
              <a:rPr lang="en-GB"/>
              <a:t>Properties of DAG?</a:t>
            </a:r>
          </a:p>
          <a:p>
            <a:r>
              <a:rPr lang="en-GB"/>
              <a:t>Leads to </a:t>
            </a:r>
            <a:r>
              <a:rPr lang="en-GB" err="1"/>
              <a:t>Propagtion</a:t>
            </a:r>
            <a:r>
              <a:rPr lang="en-GB"/>
              <a:t> Order</a:t>
            </a:r>
          </a:p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594467-663E-B63D-0731-0ED50EC8F8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896355-3DDC-9949-861F-AD0908BFCC2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6590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4F506-AD27-B672-4507-C59B1CD2D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D75388-D26A-94ED-6892-FA7EB3E78D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3B324C-25A6-97CC-4718-154EEF5355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Why DAGS? </a:t>
            </a:r>
          </a:p>
          <a:p>
            <a:r>
              <a:rPr lang="en-GB"/>
              <a:t>Properties of DAG?</a:t>
            </a:r>
          </a:p>
          <a:p>
            <a:r>
              <a:rPr lang="en-GB"/>
              <a:t>Leads to </a:t>
            </a:r>
            <a:r>
              <a:rPr lang="en-GB" err="1"/>
              <a:t>Propagtion</a:t>
            </a:r>
            <a:r>
              <a:rPr lang="en-GB"/>
              <a:t> Order</a:t>
            </a:r>
          </a:p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6B3A7E-B764-0F5F-BA68-A950080350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896355-3DDC-9949-861F-AD0908BFCC2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0676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BB666-7B10-6691-749C-6D511C152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A5039A-82B1-8FB1-90C0-DB8610D1DE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99C00B-709D-EF8E-A159-F259B3AEAD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Why DAGS? </a:t>
            </a:r>
          </a:p>
          <a:p>
            <a:r>
              <a:rPr lang="en-GB"/>
              <a:t>Properties of DAG?</a:t>
            </a:r>
          </a:p>
          <a:p>
            <a:r>
              <a:rPr lang="en-GB"/>
              <a:t>Leads to </a:t>
            </a:r>
            <a:r>
              <a:rPr lang="en-GB" err="1"/>
              <a:t>Propagtion</a:t>
            </a:r>
            <a:r>
              <a:rPr lang="en-GB"/>
              <a:t> Order</a:t>
            </a:r>
          </a:p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E58286-D9EC-4AA6-4FBB-66B0A9A3D1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896355-3DDC-9949-861F-AD0908BFCC2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628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CF9CF-CDB5-5875-C597-6A905C6F1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4E373F-12D5-153C-DC7A-CF8B158883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53345A-3D90-0ECC-A0DC-15307947EE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Why DAGS? </a:t>
            </a:r>
          </a:p>
          <a:p>
            <a:r>
              <a:rPr lang="en-GB"/>
              <a:t>Properties of DAG?</a:t>
            </a:r>
          </a:p>
          <a:p>
            <a:r>
              <a:rPr lang="en-GB"/>
              <a:t>Leads to </a:t>
            </a:r>
            <a:r>
              <a:rPr lang="en-GB" err="1"/>
              <a:t>Propagtion</a:t>
            </a:r>
            <a:r>
              <a:rPr lang="en-GB"/>
              <a:t> Order</a:t>
            </a:r>
          </a:p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F7774E-AC4B-704B-DE75-C2FDBCD26B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896355-3DDC-9949-861F-AD0908BFCC2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559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896355-3DDC-9949-861F-AD0908BFCC2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0034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896355-3DDC-9949-861F-AD0908BFCC2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0074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A2A5C-8943-A155-29C7-CF0BE4DEC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CAF3E8-40A1-8B9C-6143-F696873158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975D71-A233-4205-65AF-44789C5F4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Why DAGS? </a:t>
            </a:r>
          </a:p>
          <a:p>
            <a:r>
              <a:rPr lang="en-GB"/>
              <a:t>Properties of DAG?</a:t>
            </a:r>
          </a:p>
          <a:p>
            <a:r>
              <a:rPr lang="en-GB"/>
              <a:t>Leads to </a:t>
            </a:r>
            <a:r>
              <a:rPr lang="en-GB" err="1"/>
              <a:t>Propagtion</a:t>
            </a:r>
            <a:r>
              <a:rPr lang="en-GB"/>
              <a:t> Order</a:t>
            </a:r>
          </a:p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A3880-03E2-322E-5099-8392784A1C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896355-3DDC-9949-861F-AD0908BFCC2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9497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896355-3DDC-9949-861F-AD0908BFCC2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8696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896355-3DDC-9949-861F-AD0908BFCC23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2982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896355-3DDC-9949-861F-AD0908BFCC23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4607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896355-3DDC-9949-861F-AD0908BFCC23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2072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6624320" y="0"/>
            <a:ext cx="5567680" cy="6858000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B7763118-0811-A045-907D-A37A39B473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5249" y="664745"/>
            <a:ext cx="4560751" cy="1621619"/>
          </a:xfrm>
        </p:spPr>
        <p:txBody>
          <a:bodyPr/>
          <a:lstStyle>
            <a:lvl1pPr>
              <a:defRPr sz="3600" spc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2C4E96E-0DBC-9741-978E-351DF7CF4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5249" y="2526750"/>
            <a:ext cx="4560751" cy="3670850"/>
          </a:xfrm>
        </p:spPr>
        <p:txBody>
          <a:bodyPr/>
          <a:lstStyle>
            <a:lvl1pPr marL="457200" indent="-457200">
              <a:buClr>
                <a:schemeClr val="accent6"/>
              </a:buClr>
              <a:buFont typeface="System Font Regular"/>
              <a:buChar char="■"/>
              <a:defRPr/>
            </a:lvl1pPr>
            <a:lvl2pPr marL="285750" indent="-285750">
              <a:buClr>
                <a:schemeClr val="accent6"/>
              </a:buClr>
              <a:buFont typeface="System Font Regular"/>
              <a:buChar char="■"/>
              <a:defRPr/>
            </a:lvl2pPr>
            <a:lvl3pPr marL="171450" indent="-171450">
              <a:buClr>
                <a:schemeClr val="accent6"/>
              </a:buClr>
              <a:buFont typeface="System Font Regular"/>
              <a:buChar char="■"/>
              <a:defRPr/>
            </a:lvl3pPr>
            <a:lvl4pPr marL="171450" indent="-171450">
              <a:buClr>
                <a:schemeClr val="accent6"/>
              </a:buClr>
              <a:buFont typeface="System Font Regular"/>
              <a:buChar char="■"/>
              <a:defRPr/>
            </a:lvl4pPr>
            <a:lvl5pPr marL="171450" indent="-171450">
              <a:buClr>
                <a:schemeClr val="accent6"/>
              </a:buClr>
              <a:buFont typeface="System Font Regular"/>
              <a:buChar char="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Icon  Description automatically generated">
            <a:extLst>
              <a:ext uri="{FF2B5EF4-FFF2-40B4-BE49-F238E27FC236}">
                <a16:creationId xmlns:a16="http://schemas.microsoft.com/office/drawing/2014/main" id="{0D784583-BBE3-142B-DE9F-CCE9209D35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872" y="4569549"/>
            <a:ext cx="671267" cy="515244"/>
          </a:xfrm>
          <a:prstGeom prst="rect">
            <a:avLst/>
          </a:prstGeom>
        </p:spPr>
      </p:pic>
      <p:pic>
        <p:nvPicPr>
          <p:cNvPr id="7" name="Picture 6" descr="logo">
            <a:extLst>
              <a:ext uri="{FF2B5EF4-FFF2-40B4-BE49-F238E27FC236}">
                <a16:creationId xmlns:a16="http://schemas.microsoft.com/office/drawing/2014/main" id="{D1762EAC-E899-91F2-3210-47C9A992E518}"/>
              </a:ext>
            </a:extLst>
          </p:cNvPr>
          <p:cNvPicPr/>
          <p:nvPr userDrawn="1"/>
        </p:nvPicPr>
        <p:blipFill rotWithShape="1">
          <a:blip r:embed="rId4" cstate="print">
            <a:clrChange>
              <a:clrFrom>
                <a:srgbClr val="E6E6E6"/>
              </a:clrFrom>
              <a:clrTo>
                <a:srgbClr val="E6E6E6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494"/>
          <a:stretch/>
        </p:blipFill>
        <p:spPr bwMode="auto">
          <a:xfrm>
            <a:off x="97655" y="5560541"/>
            <a:ext cx="809485" cy="382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Shape  Description automatically generated with low confidence">
            <a:extLst>
              <a:ext uri="{FF2B5EF4-FFF2-40B4-BE49-F238E27FC236}">
                <a16:creationId xmlns:a16="http://schemas.microsoft.com/office/drawing/2014/main" id="{46A6E0AA-A47B-3094-1106-FA177FDE70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76" r="64466" b="-1"/>
          <a:stretch/>
        </p:blipFill>
        <p:spPr>
          <a:xfrm>
            <a:off x="235872" y="47506"/>
            <a:ext cx="671267" cy="562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235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5" name="Номер слайда 21"/>
          <p:cNvSpPr txBox="1">
            <a:spLocks/>
          </p:cNvSpPr>
          <p:nvPr userDrawn="1"/>
        </p:nvSpPr>
        <p:spPr>
          <a:xfrm>
            <a:off x="388273" y="6571277"/>
            <a:ext cx="513735" cy="227164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330" rtl="0" eaLnBrk="1" latinLnBrk="0" hangingPunct="1">
              <a:defRPr sz="1000" b="0" i="0" kern="1200">
                <a:solidFill>
                  <a:schemeClr val="tx1">
                    <a:alpha val="70000"/>
                  </a:schemeClr>
                </a:solidFill>
                <a:latin typeface="Montserrat Medium" charset="0"/>
                <a:ea typeface="Montserrat Medium" charset="0"/>
                <a:cs typeface="Montserrat Medium" charset="0"/>
              </a:defRPr>
            </a:lvl1pPr>
            <a:lvl2pPr marL="45716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3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9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6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2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9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15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32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8D877B3-D348-4611-9BDB-C5374591D95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4"/>
          <p:cNvSpPr>
            <a:spLocks noGrp="1"/>
          </p:cNvSpPr>
          <p:nvPr>
            <p:ph type="title" hasCustomPrompt="1"/>
          </p:nvPr>
        </p:nvSpPr>
        <p:spPr>
          <a:xfrm>
            <a:off x="1866899" y="4246128"/>
            <a:ext cx="8046357" cy="243873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1866900" y="2618190"/>
            <a:ext cx="4747260" cy="1621619"/>
          </a:xfrm>
        </p:spPr>
        <p:txBody>
          <a:bodyPr/>
          <a:lstStyle>
            <a:lvl1pPr>
              <a:defRPr sz="3600" spc="0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1866900" y="996124"/>
            <a:ext cx="4229100" cy="1621619"/>
          </a:xfrm>
        </p:spPr>
        <p:txBody>
          <a:bodyPr/>
          <a:lstStyle>
            <a:lvl1pPr>
              <a:defRPr sz="3600" spc="0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1866900" y="671005"/>
            <a:ext cx="9753600" cy="745212"/>
          </a:xfrm>
        </p:spPr>
        <p:txBody>
          <a:bodyPr>
            <a:noAutofit/>
          </a:bodyPr>
          <a:lstStyle>
            <a:lvl1pPr algn="l">
              <a:defRPr sz="3600" spc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67C995C6-BBB5-3B4F-9763-5F55B3916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6900" y="1661159"/>
            <a:ext cx="9753600" cy="475771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1866900" y="1181100"/>
            <a:ext cx="6972300" cy="162161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990600" y="3927944"/>
            <a:ext cx="11201400" cy="2930056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</p:spTree>
    <p:extLst>
      <p:ext uri="{BB962C8B-B14F-4D97-AF65-F5344CB8AC3E}">
        <p14:creationId xmlns:p14="http://schemas.microsoft.com/office/powerpoint/2010/main" val="498607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990600" y="4055602"/>
            <a:ext cx="3748377" cy="2798861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6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4738977" y="4055602"/>
            <a:ext cx="3748377" cy="2798861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7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8487355" y="4055602"/>
            <a:ext cx="3704646" cy="2798861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8" name="Title 4"/>
          <p:cNvSpPr>
            <a:spLocks noGrp="1"/>
          </p:cNvSpPr>
          <p:nvPr>
            <p:ph type="title" hasCustomPrompt="1"/>
          </p:nvPr>
        </p:nvSpPr>
        <p:spPr>
          <a:xfrm>
            <a:off x="1866900" y="441411"/>
            <a:ext cx="9753600" cy="810810"/>
          </a:xfrm>
        </p:spPr>
        <p:txBody>
          <a:bodyPr/>
          <a:lstStyle>
            <a:lvl1pPr>
              <a:defRPr sz="3600" spc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D294FF8-6963-C348-83CE-28D3491B5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6900" y="1493520"/>
            <a:ext cx="9753600" cy="22860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18669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990600" y="1349951"/>
            <a:ext cx="3748377" cy="2798861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6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4738977" y="1349951"/>
            <a:ext cx="3748377" cy="2798861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7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8487355" y="1349951"/>
            <a:ext cx="3704646" cy="2798861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8" name="Title 4"/>
          <p:cNvSpPr>
            <a:spLocks noGrp="1"/>
          </p:cNvSpPr>
          <p:nvPr>
            <p:ph type="title" hasCustomPrompt="1"/>
          </p:nvPr>
        </p:nvSpPr>
        <p:spPr>
          <a:xfrm>
            <a:off x="1866900" y="441411"/>
            <a:ext cx="9753600" cy="81081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D294FF8-6963-C348-83CE-28D3491B5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6900" y="4500542"/>
            <a:ext cx="9753600" cy="20504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27444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7843520" y="0"/>
            <a:ext cx="4348481" cy="685446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8" name="Title 4"/>
          <p:cNvSpPr>
            <a:spLocks noGrp="1"/>
          </p:cNvSpPr>
          <p:nvPr>
            <p:ph type="title" hasCustomPrompt="1"/>
          </p:nvPr>
        </p:nvSpPr>
        <p:spPr>
          <a:xfrm>
            <a:off x="1866900" y="664930"/>
            <a:ext cx="5570220" cy="1387389"/>
          </a:xfrm>
        </p:spPr>
        <p:txBody>
          <a:bodyPr/>
          <a:lstStyle>
            <a:lvl1pPr>
              <a:defRPr sz="3600" spc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D294FF8-6963-C348-83CE-28D3491B5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6900" y="2157025"/>
            <a:ext cx="5570220" cy="405073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22104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7843520" y="1"/>
            <a:ext cx="4348481" cy="3429000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8" name="Title 4"/>
          <p:cNvSpPr>
            <a:spLocks noGrp="1"/>
          </p:cNvSpPr>
          <p:nvPr>
            <p:ph type="title" hasCustomPrompt="1"/>
          </p:nvPr>
        </p:nvSpPr>
        <p:spPr>
          <a:xfrm>
            <a:off x="1866900" y="664930"/>
            <a:ext cx="5570220" cy="1387389"/>
          </a:xfrm>
        </p:spPr>
        <p:txBody>
          <a:bodyPr/>
          <a:lstStyle>
            <a:lvl1pPr>
              <a:defRPr sz="3600" spc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D294FF8-6963-C348-83CE-28D3491B5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6900" y="2157025"/>
            <a:ext cx="5570220" cy="405073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A5082EFB-1114-FE47-B838-2915F2B9B91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843520" y="3444241"/>
            <a:ext cx="4348481" cy="3413759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</p:spTree>
    <p:extLst>
      <p:ext uri="{BB962C8B-B14F-4D97-AF65-F5344CB8AC3E}">
        <p14:creationId xmlns:p14="http://schemas.microsoft.com/office/powerpoint/2010/main" val="4109281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8593373" y="1"/>
            <a:ext cx="3598627" cy="2289976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6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8593373" y="2289977"/>
            <a:ext cx="3598627" cy="2289976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7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8593373" y="4573989"/>
            <a:ext cx="3598627" cy="2284011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65D61D25-2C22-8E45-A9B3-AAB911B769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664930"/>
            <a:ext cx="6129020" cy="1459697"/>
          </a:xfrm>
        </p:spPr>
        <p:txBody>
          <a:bodyPr/>
          <a:lstStyle>
            <a:lvl1pPr>
              <a:defRPr sz="3600" spc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712658E-CB5A-AF48-A644-353403DB0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6900" y="2157025"/>
            <a:ext cx="6129020" cy="42618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966454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1866901" y="1561736"/>
            <a:ext cx="2385785" cy="3127830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3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4322839" y="1561736"/>
            <a:ext cx="2385785" cy="3127830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4" hasCustomPrompt="1"/>
          </p:nvPr>
        </p:nvSpPr>
        <p:spPr>
          <a:xfrm>
            <a:off x="6778777" y="1561736"/>
            <a:ext cx="4841723" cy="3127830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167AA0B1-6033-2F4D-A765-7D17EAA029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664931"/>
            <a:ext cx="9753600" cy="726990"/>
          </a:xfrm>
        </p:spPr>
        <p:txBody>
          <a:bodyPr/>
          <a:lstStyle>
            <a:lvl1pPr>
              <a:defRPr sz="3600" spc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259E27A-E0B3-884A-B625-74AD7AB97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6900" y="4859381"/>
            <a:ext cx="9753600" cy="17866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1866900" y="671005"/>
            <a:ext cx="9753600" cy="7107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1866900" y="1607819"/>
            <a:ext cx="9753600" cy="4811058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</p:spTree>
    <p:extLst>
      <p:ext uri="{BB962C8B-B14F-4D97-AF65-F5344CB8AC3E}">
        <p14:creationId xmlns:p14="http://schemas.microsoft.com/office/powerpoint/2010/main" val="16624827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6624320" y="0"/>
            <a:ext cx="5567680" cy="6858000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6" name="Title 4"/>
          <p:cNvSpPr>
            <a:spLocks noGrp="1"/>
          </p:cNvSpPr>
          <p:nvPr>
            <p:ph type="title" hasCustomPrompt="1"/>
          </p:nvPr>
        </p:nvSpPr>
        <p:spPr>
          <a:xfrm>
            <a:off x="1866900" y="990269"/>
            <a:ext cx="6414052" cy="243873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B443B03-7CB5-694C-A06A-B8D051D07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6900" y="3667761"/>
            <a:ext cx="4229100" cy="2978280"/>
          </a:xfrm>
        </p:spPr>
        <p:txBody>
          <a:bodyPr/>
          <a:lstStyle>
            <a:lvl1pPr marL="457200" indent="-457200">
              <a:buClr>
                <a:srgbClr val="1778C7"/>
              </a:buClr>
              <a:buFont typeface="System Font Regular"/>
              <a:buChar char="■"/>
              <a:defRPr/>
            </a:lvl1pPr>
            <a:lvl2pPr marL="285750" indent="-285750">
              <a:buClr>
                <a:srgbClr val="1778C7"/>
              </a:buClr>
              <a:buFont typeface="System Font Regular"/>
              <a:buChar char="■"/>
              <a:defRPr/>
            </a:lvl2pPr>
            <a:lvl3pPr marL="171450" indent="-171450">
              <a:buClr>
                <a:srgbClr val="1778C7"/>
              </a:buClr>
              <a:buFont typeface="System Font Regular"/>
              <a:buChar char="■"/>
              <a:defRPr/>
            </a:lvl3pPr>
            <a:lvl4pPr marL="171450" indent="-171450">
              <a:buClr>
                <a:srgbClr val="1778C7"/>
              </a:buClr>
              <a:buFont typeface="System Font Regular"/>
              <a:buChar char="■"/>
              <a:defRPr/>
            </a:lvl4pPr>
            <a:lvl5pPr marL="171450" indent="-171450">
              <a:buClr>
                <a:srgbClr val="1778C7"/>
              </a:buClr>
              <a:buFont typeface="System Font Regular"/>
              <a:buChar char="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912075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6624320" y="0"/>
            <a:ext cx="5567680" cy="6858000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B7763118-0811-A045-907D-A37A39B473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5249" y="664745"/>
            <a:ext cx="4560751" cy="1621619"/>
          </a:xfrm>
        </p:spPr>
        <p:txBody>
          <a:bodyPr/>
          <a:lstStyle>
            <a:lvl1pPr>
              <a:defRPr sz="3600" spc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2C4E96E-0DBC-9741-978E-351DF7CF4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5249" y="2526750"/>
            <a:ext cx="4560751" cy="3670850"/>
          </a:xfrm>
        </p:spPr>
        <p:txBody>
          <a:bodyPr/>
          <a:lstStyle>
            <a:lvl1pPr marL="457200" indent="-457200">
              <a:buClr>
                <a:schemeClr val="accent6"/>
              </a:buClr>
              <a:buFont typeface="System Font Regular"/>
              <a:buChar char="■"/>
              <a:defRPr/>
            </a:lvl1pPr>
            <a:lvl2pPr marL="285750" indent="-285750">
              <a:buClr>
                <a:schemeClr val="accent6"/>
              </a:buClr>
              <a:buFont typeface="System Font Regular"/>
              <a:buChar char="■"/>
              <a:defRPr/>
            </a:lvl2pPr>
            <a:lvl3pPr marL="171450" indent="-171450">
              <a:buClr>
                <a:schemeClr val="accent6"/>
              </a:buClr>
              <a:buFont typeface="System Font Regular"/>
              <a:buChar char="■"/>
              <a:defRPr/>
            </a:lvl3pPr>
            <a:lvl4pPr marL="171450" indent="-171450">
              <a:buClr>
                <a:schemeClr val="accent6"/>
              </a:buClr>
              <a:buFont typeface="System Font Regular"/>
              <a:buChar char="■"/>
              <a:defRPr/>
            </a:lvl4pPr>
            <a:lvl5pPr marL="171450" indent="-171450">
              <a:buClr>
                <a:schemeClr val="accent6"/>
              </a:buClr>
              <a:buFont typeface="System Font Regular"/>
              <a:buChar char="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312352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990600" y="0"/>
            <a:ext cx="5567680" cy="6858000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6" name="Title 4"/>
          <p:cNvSpPr>
            <a:spLocks noGrp="1"/>
          </p:cNvSpPr>
          <p:nvPr>
            <p:ph type="title" hasCustomPrompt="1"/>
          </p:nvPr>
        </p:nvSpPr>
        <p:spPr>
          <a:xfrm>
            <a:off x="5206448" y="990269"/>
            <a:ext cx="6414052" cy="2438731"/>
          </a:xfrm>
        </p:spPr>
        <p:txBody>
          <a:bodyPr/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B443B03-7CB5-694C-A06A-B8D051D07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00" y="3667761"/>
            <a:ext cx="4508500" cy="297828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30505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990600" y="0"/>
            <a:ext cx="5105400" cy="6858000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6" name="Title 4"/>
          <p:cNvSpPr>
            <a:spLocks noGrp="1"/>
          </p:cNvSpPr>
          <p:nvPr>
            <p:ph type="title" hasCustomPrompt="1"/>
          </p:nvPr>
        </p:nvSpPr>
        <p:spPr>
          <a:xfrm>
            <a:off x="6531429" y="664745"/>
            <a:ext cx="5089071" cy="1621619"/>
          </a:xfrm>
        </p:spPr>
        <p:txBody>
          <a:bodyPr/>
          <a:lstStyle>
            <a:lvl1pPr>
              <a:defRPr sz="3600" spc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353C0E3-CA06-FF4E-9268-38C763A245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1429" y="2526750"/>
            <a:ext cx="5089071" cy="36708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239873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990600" y="0"/>
            <a:ext cx="11201401" cy="3429000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7" name="Title 4"/>
          <p:cNvSpPr>
            <a:spLocks noGrp="1"/>
          </p:cNvSpPr>
          <p:nvPr>
            <p:ph type="title" hasCustomPrompt="1"/>
          </p:nvPr>
        </p:nvSpPr>
        <p:spPr>
          <a:xfrm>
            <a:off x="1866900" y="3715470"/>
            <a:ext cx="4229100" cy="162161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8A2D389-5092-B541-B85C-948DD9C9B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0480" y="3715470"/>
            <a:ext cx="5240020" cy="29305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718061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1866900" y="3429000"/>
            <a:ext cx="10325101" cy="3429000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7" name="Title 4"/>
          <p:cNvSpPr>
            <a:spLocks noGrp="1"/>
          </p:cNvSpPr>
          <p:nvPr>
            <p:ph type="title" hasCustomPrompt="1"/>
          </p:nvPr>
        </p:nvSpPr>
        <p:spPr>
          <a:xfrm>
            <a:off x="1866900" y="691324"/>
            <a:ext cx="4229100" cy="162161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64CFFCC-3559-F84D-A042-1BAFB2591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0480" y="691325"/>
            <a:ext cx="5240020" cy="228555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066609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1866900" y="1908627"/>
            <a:ext cx="1425919" cy="91585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9F1E9CA4-55FC-8A40-824F-09EDA9DCB9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671005"/>
            <a:ext cx="9753600" cy="7107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D910E763-4396-F74C-8903-82D9802B2D7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79701" y="1908627"/>
            <a:ext cx="1425919" cy="91585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E94BA5C2-38F4-E14F-AA9C-C3DFC999753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092502" y="1908627"/>
            <a:ext cx="1425919" cy="91585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A9FCD912-C26A-6644-A093-938CD0712E6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743700" y="1908627"/>
            <a:ext cx="1425919" cy="91585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2" name="Picture Placeholder 4">
            <a:extLst>
              <a:ext uri="{FF2B5EF4-FFF2-40B4-BE49-F238E27FC236}">
                <a16:creationId xmlns:a16="http://schemas.microsoft.com/office/drawing/2014/main" id="{2B2E5B3A-B4B2-BD4F-AB85-BFF95E3A2AD7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394898" y="1908627"/>
            <a:ext cx="1425919" cy="91585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3" name="Picture Placeholder 4">
            <a:extLst>
              <a:ext uri="{FF2B5EF4-FFF2-40B4-BE49-F238E27FC236}">
                <a16:creationId xmlns:a16="http://schemas.microsoft.com/office/drawing/2014/main" id="{CC35ADD1-35FD-C44E-BAE2-21F1D63D4DE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0046096" y="1908627"/>
            <a:ext cx="1425919" cy="91585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4" name="Picture Placeholder 4">
            <a:extLst>
              <a:ext uri="{FF2B5EF4-FFF2-40B4-BE49-F238E27FC236}">
                <a16:creationId xmlns:a16="http://schemas.microsoft.com/office/drawing/2014/main" id="{4A064768-5B8B-5740-B764-CCD1215AD7E3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866900" y="2965267"/>
            <a:ext cx="1425919" cy="91585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5" name="Picture Placeholder 4">
            <a:extLst>
              <a:ext uri="{FF2B5EF4-FFF2-40B4-BE49-F238E27FC236}">
                <a16:creationId xmlns:a16="http://schemas.microsoft.com/office/drawing/2014/main" id="{A8ACE225-1838-3544-957D-AACCA7BE3A1A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479701" y="2965267"/>
            <a:ext cx="1425919" cy="91585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6" name="Picture Placeholder 4">
            <a:extLst>
              <a:ext uri="{FF2B5EF4-FFF2-40B4-BE49-F238E27FC236}">
                <a16:creationId xmlns:a16="http://schemas.microsoft.com/office/drawing/2014/main" id="{FD0641E4-640F-8D4E-8C69-BFEE014364E3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5092502" y="2965267"/>
            <a:ext cx="1425919" cy="91585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7" name="Picture Placeholder 4">
            <a:extLst>
              <a:ext uri="{FF2B5EF4-FFF2-40B4-BE49-F238E27FC236}">
                <a16:creationId xmlns:a16="http://schemas.microsoft.com/office/drawing/2014/main" id="{0DBFC0DE-039B-2F4E-BFBC-2E3DA0364347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743700" y="2965267"/>
            <a:ext cx="1425919" cy="91585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8" name="Picture Placeholder 4">
            <a:extLst>
              <a:ext uri="{FF2B5EF4-FFF2-40B4-BE49-F238E27FC236}">
                <a16:creationId xmlns:a16="http://schemas.microsoft.com/office/drawing/2014/main" id="{25EA1B11-E5B8-9149-BBE6-13ADFB08F8B5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8394898" y="2965267"/>
            <a:ext cx="1425919" cy="91585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9" name="Picture Placeholder 4">
            <a:extLst>
              <a:ext uri="{FF2B5EF4-FFF2-40B4-BE49-F238E27FC236}">
                <a16:creationId xmlns:a16="http://schemas.microsoft.com/office/drawing/2014/main" id="{ECDDA7D5-E29D-2F4F-9BBE-E4BC874FC1DF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0046096" y="2965267"/>
            <a:ext cx="1425919" cy="91585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30" name="Picture Placeholder 4">
            <a:extLst>
              <a:ext uri="{FF2B5EF4-FFF2-40B4-BE49-F238E27FC236}">
                <a16:creationId xmlns:a16="http://schemas.microsoft.com/office/drawing/2014/main" id="{D39CEE3D-7E7A-494C-B8D1-6A561A1F8C67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1866900" y="4021907"/>
            <a:ext cx="1425919" cy="91585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31" name="Picture Placeholder 4">
            <a:extLst>
              <a:ext uri="{FF2B5EF4-FFF2-40B4-BE49-F238E27FC236}">
                <a16:creationId xmlns:a16="http://schemas.microsoft.com/office/drawing/2014/main" id="{D2F2FBF1-42C4-084B-9B8F-8A6BB412FDFF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3479701" y="4021907"/>
            <a:ext cx="1425919" cy="91585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32" name="Picture Placeholder 4">
            <a:extLst>
              <a:ext uri="{FF2B5EF4-FFF2-40B4-BE49-F238E27FC236}">
                <a16:creationId xmlns:a16="http://schemas.microsoft.com/office/drawing/2014/main" id="{99001851-0A29-5945-8461-09C32A1DF560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5092502" y="4021907"/>
            <a:ext cx="1425919" cy="91585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33" name="Picture Placeholder 4">
            <a:extLst>
              <a:ext uri="{FF2B5EF4-FFF2-40B4-BE49-F238E27FC236}">
                <a16:creationId xmlns:a16="http://schemas.microsoft.com/office/drawing/2014/main" id="{DC1D8B20-1A51-9C4A-ABDD-DD48B5D1C275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6743700" y="4021907"/>
            <a:ext cx="1425919" cy="91585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34" name="Picture Placeholder 4">
            <a:extLst>
              <a:ext uri="{FF2B5EF4-FFF2-40B4-BE49-F238E27FC236}">
                <a16:creationId xmlns:a16="http://schemas.microsoft.com/office/drawing/2014/main" id="{5AA24CC2-0B66-B34D-A228-6AE40A8DE753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8394898" y="4021907"/>
            <a:ext cx="1425919" cy="91585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35" name="Picture Placeholder 4">
            <a:extLst>
              <a:ext uri="{FF2B5EF4-FFF2-40B4-BE49-F238E27FC236}">
                <a16:creationId xmlns:a16="http://schemas.microsoft.com/office/drawing/2014/main" id="{5FA8BDB8-5757-C142-AC90-BC8AD95844D0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10046096" y="4021907"/>
            <a:ext cx="1425919" cy="91585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36" name="Picture Placeholder 4">
            <a:extLst>
              <a:ext uri="{FF2B5EF4-FFF2-40B4-BE49-F238E27FC236}">
                <a16:creationId xmlns:a16="http://schemas.microsoft.com/office/drawing/2014/main" id="{65AA2FDC-1BAC-F24E-85E0-00EBEC7473C7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1866900" y="5078547"/>
            <a:ext cx="1425919" cy="91585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72982FDD-C863-2C47-A976-BFBF4777637D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3479701" y="5078547"/>
            <a:ext cx="1425919" cy="91585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1D2AA8B1-2C53-7940-A97F-72E577896EC9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5092502" y="5078547"/>
            <a:ext cx="1425919" cy="91585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B695AF4D-D6DC-0944-98EC-F2C964A6D132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6743700" y="5078547"/>
            <a:ext cx="1425919" cy="91585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002E033C-4E61-6B4F-B553-C83E76F94D8B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8394898" y="5078547"/>
            <a:ext cx="1425919" cy="91585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41" name="Picture Placeholder 4">
            <a:extLst>
              <a:ext uri="{FF2B5EF4-FFF2-40B4-BE49-F238E27FC236}">
                <a16:creationId xmlns:a16="http://schemas.microsoft.com/office/drawing/2014/main" id="{750A9437-CEAD-0741-8012-DFC58613492D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10046096" y="5078547"/>
            <a:ext cx="1425919" cy="91585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</p:spTree>
    <p:extLst>
      <p:ext uri="{BB962C8B-B14F-4D97-AF65-F5344CB8AC3E}">
        <p14:creationId xmlns:p14="http://schemas.microsoft.com/office/powerpoint/2010/main" val="6119794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1866900" y="1638966"/>
            <a:ext cx="2367114" cy="152037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9F1E9CA4-55FC-8A40-824F-09EDA9DCB9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671005"/>
            <a:ext cx="9753600" cy="7107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2" name="Picture Placeholder 4">
            <a:extLst>
              <a:ext uri="{FF2B5EF4-FFF2-40B4-BE49-F238E27FC236}">
                <a16:creationId xmlns:a16="http://schemas.microsoft.com/office/drawing/2014/main" id="{AB69879B-EE95-2340-855D-A9E3FF45B36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866900" y="3325526"/>
            <a:ext cx="2367114" cy="152037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43" name="Picture Placeholder 4">
            <a:extLst>
              <a:ext uri="{FF2B5EF4-FFF2-40B4-BE49-F238E27FC236}">
                <a16:creationId xmlns:a16="http://schemas.microsoft.com/office/drawing/2014/main" id="{81755F83-CEE1-CA4F-9CB2-AD8AF9461FE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866900" y="5012086"/>
            <a:ext cx="2367114" cy="152037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34924851-6C37-C84F-A630-EA87C879C7D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396740" y="1638966"/>
            <a:ext cx="2367114" cy="152037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45" name="Picture Placeholder 4">
            <a:extLst>
              <a:ext uri="{FF2B5EF4-FFF2-40B4-BE49-F238E27FC236}">
                <a16:creationId xmlns:a16="http://schemas.microsoft.com/office/drawing/2014/main" id="{1591A003-2C51-8747-8121-A00901B6953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926580" y="1638966"/>
            <a:ext cx="2367114" cy="152037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46" name="Picture Placeholder 4">
            <a:extLst>
              <a:ext uri="{FF2B5EF4-FFF2-40B4-BE49-F238E27FC236}">
                <a16:creationId xmlns:a16="http://schemas.microsoft.com/office/drawing/2014/main" id="{E5FC3E9F-0D6F-1A4B-9B98-7EEBF5AEADC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456420" y="1638966"/>
            <a:ext cx="2367114" cy="152037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47" name="Picture Placeholder 4">
            <a:extLst>
              <a:ext uri="{FF2B5EF4-FFF2-40B4-BE49-F238E27FC236}">
                <a16:creationId xmlns:a16="http://schemas.microsoft.com/office/drawing/2014/main" id="{CEC3CD0E-BFD8-D741-B22E-22F2F41C4FA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396740" y="3325526"/>
            <a:ext cx="2367114" cy="152037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48" name="Picture Placeholder 4">
            <a:extLst>
              <a:ext uri="{FF2B5EF4-FFF2-40B4-BE49-F238E27FC236}">
                <a16:creationId xmlns:a16="http://schemas.microsoft.com/office/drawing/2014/main" id="{0460D3CE-95FD-684A-91A1-6CCB6968556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926580" y="3325526"/>
            <a:ext cx="2367114" cy="152037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49" name="Picture Placeholder 4">
            <a:extLst>
              <a:ext uri="{FF2B5EF4-FFF2-40B4-BE49-F238E27FC236}">
                <a16:creationId xmlns:a16="http://schemas.microsoft.com/office/drawing/2014/main" id="{B8B8D087-5B4B-8141-8DB9-81770800BD18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9456420" y="3325526"/>
            <a:ext cx="2367114" cy="152037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50" name="Picture Placeholder 4">
            <a:extLst>
              <a:ext uri="{FF2B5EF4-FFF2-40B4-BE49-F238E27FC236}">
                <a16:creationId xmlns:a16="http://schemas.microsoft.com/office/drawing/2014/main" id="{BB5C1B6D-1803-8645-8E13-7DE2A58DE4D3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396740" y="5012086"/>
            <a:ext cx="2367114" cy="152037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51" name="Picture Placeholder 4">
            <a:extLst>
              <a:ext uri="{FF2B5EF4-FFF2-40B4-BE49-F238E27FC236}">
                <a16:creationId xmlns:a16="http://schemas.microsoft.com/office/drawing/2014/main" id="{285C2B50-7632-3747-84F1-900493205CDB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926580" y="5012086"/>
            <a:ext cx="2367114" cy="152037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52" name="Picture Placeholder 4">
            <a:extLst>
              <a:ext uri="{FF2B5EF4-FFF2-40B4-BE49-F238E27FC236}">
                <a16:creationId xmlns:a16="http://schemas.microsoft.com/office/drawing/2014/main" id="{B105B2B0-0C44-D34D-837F-9F695FD2187F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9456420" y="5012086"/>
            <a:ext cx="2367114" cy="1520373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</p:spTree>
    <p:extLst>
      <p:ext uri="{BB962C8B-B14F-4D97-AF65-F5344CB8AC3E}">
        <p14:creationId xmlns:p14="http://schemas.microsoft.com/office/powerpoint/2010/main" val="12405156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7" hasCustomPrompt="1"/>
          </p:nvPr>
        </p:nvSpPr>
        <p:spPr>
          <a:xfrm>
            <a:off x="1866900" y="1634553"/>
            <a:ext cx="2997925" cy="2997925"/>
          </a:xfrm>
          <a:prstGeom prst="ellipse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6" name="Picture Placeholder 4"/>
          <p:cNvSpPr>
            <a:spLocks noGrp="1"/>
          </p:cNvSpPr>
          <p:nvPr>
            <p:ph type="pic" sz="quarter" idx="18" hasCustomPrompt="1"/>
          </p:nvPr>
        </p:nvSpPr>
        <p:spPr>
          <a:xfrm>
            <a:off x="5244737" y="1634553"/>
            <a:ext cx="2997925" cy="2997925"/>
          </a:xfrm>
          <a:prstGeom prst="ellipse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7" name="Picture Placeholder 4"/>
          <p:cNvSpPr>
            <a:spLocks noGrp="1"/>
          </p:cNvSpPr>
          <p:nvPr>
            <p:ph type="pic" sz="quarter" idx="19" hasCustomPrompt="1"/>
          </p:nvPr>
        </p:nvSpPr>
        <p:spPr>
          <a:xfrm>
            <a:off x="8622575" y="1634553"/>
            <a:ext cx="2997925" cy="2997925"/>
          </a:xfrm>
          <a:prstGeom prst="ellipse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8" name="Title 4"/>
          <p:cNvSpPr>
            <a:spLocks noGrp="1"/>
          </p:cNvSpPr>
          <p:nvPr>
            <p:ph type="title" hasCustomPrompt="1"/>
          </p:nvPr>
        </p:nvSpPr>
        <p:spPr>
          <a:xfrm>
            <a:off x="1866900" y="664745"/>
            <a:ext cx="9753600" cy="757655"/>
          </a:xfrm>
        </p:spPr>
        <p:txBody>
          <a:bodyPr/>
          <a:lstStyle>
            <a:lvl1pPr>
              <a:defRPr sz="3600" spc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8F39EDD-56E0-DB41-A5F7-712481027C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6900" y="4844631"/>
            <a:ext cx="9753600" cy="180141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76433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7086600" y="0"/>
            <a:ext cx="5105400" cy="6858000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6" name="Title 4"/>
          <p:cNvSpPr>
            <a:spLocks noGrp="1"/>
          </p:cNvSpPr>
          <p:nvPr>
            <p:ph type="title" hasCustomPrompt="1"/>
          </p:nvPr>
        </p:nvSpPr>
        <p:spPr>
          <a:xfrm>
            <a:off x="1866900" y="2618190"/>
            <a:ext cx="4229100" cy="162161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7" hasCustomPrompt="1"/>
          </p:nvPr>
        </p:nvSpPr>
        <p:spPr>
          <a:xfrm>
            <a:off x="1866901" y="1181100"/>
            <a:ext cx="1406070" cy="1406070"/>
          </a:xfrm>
          <a:prstGeom prst="ellipse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6" name="Oval 5"/>
          <p:cNvSpPr/>
          <p:nvPr userDrawn="1"/>
        </p:nvSpPr>
        <p:spPr>
          <a:xfrm>
            <a:off x="1448707" y="762906"/>
            <a:ext cx="2242457" cy="2242457"/>
          </a:xfrm>
          <a:prstGeom prst="ellipse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5471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990600" y="0"/>
            <a:ext cx="11201400" cy="6857999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</p:spTree>
    <p:extLst>
      <p:ext uri="{BB962C8B-B14F-4D97-AF65-F5344CB8AC3E}">
        <p14:creationId xmlns:p14="http://schemas.microsoft.com/office/powerpoint/2010/main" val="20603505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1866900" y="664745"/>
            <a:ext cx="7510780" cy="1621619"/>
          </a:xfrm>
        </p:spPr>
        <p:txBody>
          <a:bodyPr/>
          <a:lstStyle>
            <a:lvl1pPr>
              <a:defRPr sz="3600" spc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7" hasCustomPrompt="1"/>
          </p:nvPr>
        </p:nvSpPr>
        <p:spPr>
          <a:xfrm>
            <a:off x="1866901" y="2770416"/>
            <a:ext cx="2019300" cy="2019300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8" hasCustomPrompt="1"/>
          </p:nvPr>
        </p:nvSpPr>
        <p:spPr>
          <a:xfrm>
            <a:off x="3943351" y="2770416"/>
            <a:ext cx="2019300" cy="2019300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19" hasCustomPrompt="1"/>
          </p:nvPr>
        </p:nvSpPr>
        <p:spPr>
          <a:xfrm>
            <a:off x="6019801" y="2770416"/>
            <a:ext cx="2019300" cy="2019300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3" name="Picture Placeholder 4"/>
          <p:cNvSpPr>
            <a:spLocks noGrp="1"/>
          </p:cNvSpPr>
          <p:nvPr>
            <p:ph type="pic" sz="quarter" idx="20" hasCustomPrompt="1"/>
          </p:nvPr>
        </p:nvSpPr>
        <p:spPr>
          <a:xfrm>
            <a:off x="8096251" y="2770416"/>
            <a:ext cx="2019300" cy="2019300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21" hasCustomPrompt="1"/>
          </p:nvPr>
        </p:nvSpPr>
        <p:spPr>
          <a:xfrm>
            <a:off x="10172700" y="2770416"/>
            <a:ext cx="2019300" cy="2019300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5" name="Picture Placeholder 4"/>
          <p:cNvSpPr>
            <a:spLocks noGrp="1"/>
          </p:cNvSpPr>
          <p:nvPr>
            <p:ph type="pic" sz="quarter" idx="22" hasCustomPrompt="1"/>
          </p:nvPr>
        </p:nvSpPr>
        <p:spPr>
          <a:xfrm>
            <a:off x="1866901" y="4838700"/>
            <a:ext cx="2019300" cy="2019300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6" name="Picture Placeholder 4"/>
          <p:cNvSpPr>
            <a:spLocks noGrp="1"/>
          </p:cNvSpPr>
          <p:nvPr>
            <p:ph type="pic" sz="quarter" idx="23" hasCustomPrompt="1"/>
          </p:nvPr>
        </p:nvSpPr>
        <p:spPr>
          <a:xfrm>
            <a:off x="3943351" y="4838700"/>
            <a:ext cx="2019300" cy="2019300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7" name="Picture Placeholder 4"/>
          <p:cNvSpPr>
            <a:spLocks noGrp="1"/>
          </p:cNvSpPr>
          <p:nvPr>
            <p:ph type="pic" sz="quarter" idx="24" hasCustomPrompt="1"/>
          </p:nvPr>
        </p:nvSpPr>
        <p:spPr>
          <a:xfrm>
            <a:off x="6019801" y="4838700"/>
            <a:ext cx="2019300" cy="2019300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8" name="Picture Placeholder 4"/>
          <p:cNvSpPr>
            <a:spLocks noGrp="1"/>
          </p:cNvSpPr>
          <p:nvPr>
            <p:ph type="pic" sz="quarter" idx="25" hasCustomPrompt="1"/>
          </p:nvPr>
        </p:nvSpPr>
        <p:spPr>
          <a:xfrm>
            <a:off x="8096251" y="4838700"/>
            <a:ext cx="2019300" cy="2019300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9" name="Picture Placeholder 4"/>
          <p:cNvSpPr>
            <a:spLocks noGrp="1"/>
          </p:cNvSpPr>
          <p:nvPr>
            <p:ph type="pic" sz="quarter" idx="26" hasCustomPrompt="1"/>
          </p:nvPr>
        </p:nvSpPr>
        <p:spPr>
          <a:xfrm>
            <a:off x="10172700" y="4838700"/>
            <a:ext cx="2019300" cy="2019300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1866900" y="654585"/>
            <a:ext cx="5935980" cy="1621619"/>
          </a:xfrm>
        </p:spPr>
        <p:txBody>
          <a:bodyPr/>
          <a:lstStyle>
            <a:lvl1pPr>
              <a:defRPr sz="3600" spc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7" hasCustomPrompt="1"/>
          </p:nvPr>
        </p:nvSpPr>
        <p:spPr>
          <a:xfrm>
            <a:off x="1866901" y="2770416"/>
            <a:ext cx="2019300" cy="4087584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8" hasCustomPrompt="1"/>
          </p:nvPr>
        </p:nvSpPr>
        <p:spPr>
          <a:xfrm>
            <a:off x="3943351" y="2770416"/>
            <a:ext cx="2019300" cy="4087584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19" hasCustomPrompt="1"/>
          </p:nvPr>
        </p:nvSpPr>
        <p:spPr>
          <a:xfrm>
            <a:off x="6019801" y="2770416"/>
            <a:ext cx="2019300" cy="4087584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3" name="Picture Placeholder 4"/>
          <p:cNvSpPr>
            <a:spLocks noGrp="1"/>
          </p:cNvSpPr>
          <p:nvPr>
            <p:ph type="pic" sz="quarter" idx="20" hasCustomPrompt="1"/>
          </p:nvPr>
        </p:nvSpPr>
        <p:spPr>
          <a:xfrm>
            <a:off x="8096251" y="2770416"/>
            <a:ext cx="2019300" cy="4087584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21" hasCustomPrompt="1"/>
          </p:nvPr>
        </p:nvSpPr>
        <p:spPr>
          <a:xfrm>
            <a:off x="10172700" y="2770416"/>
            <a:ext cx="2019300" cy="4087584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rtl="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rtl="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rtl="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rtl="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rtl="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171410" y="6271599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8106306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8348835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372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66900" y="994934"/>
            <a:ext cx="9753600" cy="1487862"/>
          </a:xfrm>
          <a:prstGeom prst="rect">
            <a:avLst/>
          </a:prstGeom>
          <a:effectLst/>
        </p:spPr>
        <p:txBody>
          <a:bodyPr vert="horz" lIns="0" tIns="192024" rIns="0" bIns="0" rtlCol="0" anchor="t" anchorCtr="0">
            <a:noAutofit/>
          </a:bodyPr>
          <a:lstStyle/>
          <a:p>
            <a:r>
              <a:rPr lang="en-US"/>
              <a:t>YOUR TITLE HERE</a:t>
            </a:r>
          </a:p>
        </p:txBody>
      </p:sp>
      <p:sp>
        <p:nvSpPr>
          <p:cNvPr id="6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235873" y="6418877"/>
            <a:ext cx="513735" cy="227164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ctr">
              <a:defRPr sz="1000" b="0" i="0">
                <a:solidFill>
                  <a:schemeClr val="tx1">
                    <a:alpha val="7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8D877B3-D348-4611-9BDB-C5374591D95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/>
          <p:cNvSpPr>
            <a:spLocks noGrp="1"/>
          </p:cNvSpPr>
          <p:nvPr>
            <p:ph type="body" idx="1"/>
          </p:nvPr>
        </p:nvSpPr>
        <p:spPr>
          <a:xfrm>
            <a:off x="1866900" y="2514600"/>
            <a:ext cx="9753600" cy="311044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985480" y="0"/>
            <a:ext cx="0" cy="6858000"/>
          </a:xfrm>
          <a:prstGeom prst="line">
            <a:avLst/>
          </a:prstGeom>
          <a:ln>
            <a:solidFill>
              <a:srgbClr val="0177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A5E9AFA-5FE4-944B-BC1C-BFB852B88888}"/>
              </a:ext>
            </a:extLst>
          </p:cNvPr>
          <p:cNvSpPr txBox="1"/>
          <p:nvPr userDrawn="1"/>
        </p:nvSpPr>
        <p:spPr>
          <a:xfrm rot="5400000">
            <a:off x="-2107580" y="2687443"/>
            <a:ext cx="51853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300">
                <a:solidFill>
                  <a:srgbClr val="0177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   THE FACULTY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1377184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6" r:id="rId1"/>
    <p:sldLayoutId id="2147484023" r:id="rId2"/>
    <p:sldLayoutId id="2147484035" r:id="rId3"/>
    <p:sldLayoutId id="2147484011" r:id="rId4"/>
    <p:sldLayoutId id="2147484012" r:id="rId5"/>
    <p:sldLayoutId id="2147484013" r:id="rId6"/>
    <p:sldLayoutId id="2147484014" r:id="rId7"/>
    <p:sldLayoutId id="2147484015" r:id="rId8"/>
    <p:sldLayoutId id="2147484073" r:id="rId9"/>
    <p:sldLayoutId id="2147484074" r:id="rId10"/>
    <p:sldLayoutId id="2147484076" r:id="rId11"/>
    <p:sldLayoutId id="2147484016" r:id="rId12"/>
    <p:sldLayoutId id="2147484048" r:id="rId13"/>
    <p:sldLayoutId id="2147484024" r:id="rId14"/>
    <p:sldLayoutId id="2147484078" r:id="rId15"/>
    <p:sldLayoutId id="2147484029" r:id="rId16"/>
    <p:sldLayoutId id="2147484075" r:id="rId17"/>
    <p:sldLayoutId id="2147484040" r:id="rId18"/>
    <p:sldLayoutId id="2147484030" r:id="rId19"/>
    <p:sldLayoutId id="2147484031" r:id="rId20"/>
    <p:sldLayoutId id="2147484032" r:id="rId21"/>
    <p:sldLayoutId id="2147484077" r:id="rId22"/>
    <p:sldLayoutId id="2147484036" r:id="rId23"/>
    <p:sldLayoutId id="2147484044" r:id="rId24"/>
    <p:sldLayoutId id="2147484045" r:id="rId25"/>
    <p:sldLayoutId id="2147484046" r:id="rId26"/>
    <p:sldLayoutId id="2147484049" r:id="rId27"/>
    <p:sldLayoutId id="2147484050" r:id="rId28"/>
    <p:sldLayoutId id="2147484079" r:id="rId29"/>
    <p:sldLayoutId id="2147484082" r:id="rId30"/>
    <p:sldLayoutId id="2147484084" r:id="rId31"/>
  </p:sldLayoutIdLst>
  <p:hf hdr="0" ftr="0" dt="0"/>
  <p:txStyles>
    <p:titleStyle>
      <a:lvl1pPr algn="l" defTabSz="914318" rtl="0" eaLnBrk="1" latinLnBrk="0" hangingPunct="1">
        <a:lnSpc>
          <a:spcPct val="80000"/>
        </a:lnSpc>
        <a:spcBef>
          <a:spcPct val="0"/>
        </a:spcBef>
        <a:buNone/>
        <a:defRPr sz="4400" kern="1200" spc="-151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318" rtl="0" eaLnBrk="1" latinLnBrk="0" hangingPunct="1">
        <a:lnSpc>
          <a:spcPct val="120000"/>
        </a:lnSpc>
        <a:spcBef>
          <a:spcPts val="1000"/>
        </a:spcBef>
        <a:buClr>
          <a:srgbClr val="0177AD"/>
        </a:buClr>
        <a:buFont typeface="Wingdings" pitchFamily="2" charset="2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318" rtl="0" eaLnBrk="1" latinLnBrk="0" hangingPunct="1">
        <a:lnSpc>
          <a:spcPct val="120000"/>
        </a:lnSpc>
        <a:spcBef>
          <a:spcPts val="499"/>
        </a:spcBef>
        <a:buClr>
          <a:srgbClr val="0177AD"/>
        </a:buClr>
        <a:buFont typeface="Wingdings" pitchFamily="2" charset="2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318" rtl="0" eaLnBrk="1" latinLnBrk="0" hangingPunct="1">
        <a:lnSpc>
          <a:spcPct val="120000"/>
        </a:lnSpc>
        <a:spcBef>
          <a:spcPts val="499"/>
        </a:spcBef>
        <a:buClr>
          <a:srgbClr val="0177AD"/>
        </a:buClr>
        <a:buFont typeface="Wingdings" pitchFamily="2" charset="2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318" rtl="0" eaLnBrk="1" latinLnBrk="0" hangingPunct="1">
        <a:lnSpc>
          <a:spcPct val="120000"/>
        </a:lnSpc>
        <a:spcBef>
          <a:spcPts val="499"/>
        </a:spcBef>
        <a:buClr>
          <a:srgbClr val="0177AD"/>
        </a:buClr>
        <a:buFont typeface="Wingdings" pitchFamily="2" charset="2"/>
        <a:buNone/>
        <a:defRPr sz="1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4pPr>
      <a:lvl5pPr marL="0" indent="0" algn="l" defTabSz="914318" rtl="0" eaLnBrk="1" latinLnBrk="0" hangingPunct="1">
        <a:lnSpc>
          <a:spcPct val="120000"/>
        </a:lnSpc>
        <a:spcBef>
          <a:spcPts val="499"/>
        </a:spcBef>
        <a:buClr>
          <a:srgbClr val="0177AD"/>
        </a:buClr>
        <a:buFont typeface="Wingdings" pitchFamily="2" charset="2"/>
        <a:buNone/>
        <a:defRPr sz="1000" kern="1200" baseline="0">
          <a:solidFill>
            <a:schemeClr val="tx1">
              <a:alpha val="50000"/>
            </a:schemeClr>
          </a:solidFill>
          <a:latin typeface="+mn-lt"/>
          <a:ea typeface="+mn-ea"/>
          <a:cs typeface="+mn-cs"/>
        </a:defRPr>
      </a:lvl5pPr>
      <a:lvl6pPr marL="2514374" indent="-228580" algn="l" defTabSz="914318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34" indent="-228580" algn="l" defTabSz="914318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92" indent="-228580" algn="l" defTabSz="914318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50" indent="-228580" algn="l" defTabSz="914318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9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18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78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36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94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53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12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71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pos="3840">
          <p15:clr>
            <a:srgbClr val="F26B43"/>
          </p15:clr>
        </p15:guide>
        <p15:guide id="1" orient="horz" pos="2160">
          <p15:clr>
            <a:srgbClr val="F26B43"/>
          </p15:clr>
        </p15:guide>
        <p15:guide id="28" pos="624" userDrawn="1">
          <p15:clr>
            <a:srgbClr val="F26B43"/>
          </p15:clr>
        </p15:guide>
        <p15:guide id="29" pos="7320" userDrawn="1">
          <p15:clr>
            <a:srgbClr val="F26B43"/>
          </p15:clr>
        </p15:guide>
        <p15:guide id="48" pos="1176" userDrawn="1">
          <p15:clr>
            <a:srgbClr val="F26B43"/>
          </p15:clr>
        </p15:guide>
        <p15:guide id="51" orient="horz" pos="74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9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5">
            <a:extLst>
              <a:ext uri="{FF2B5EF4-FFF2-40B4-BE49-F238E27FC236}">
                <a16:creationId xmlns:a16="http://schemas.microsoft.com/office/drawing/2014/main" id="{F84CA801-4922-BA4E-88CC-71D5CEE460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38" t="8977" b="4101"/>
          <a:stretch/>
        </p:blipFill>
        <p:spPr>
          <a:xfrm>
            <a:off x="992776" y="-1"/>
            <a:ext cx="11199223" cy="685800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94BEF84-26E8-CE45-9CD7-519E48DF06CF}"/>
              </a:ext>
            </a:extLst>
          </p:cNvPr>
          <p:cNvSpPr/>
          <p:nvPr/>
        </p:nvSpPr>
        <p:spPr>
          <a:xfrm>
            <a:off x="992778" y="0"/>
            <a:ext cx="11199222" cy="6858000"/>
          </a:xfrm>
          <a:prstGeom prst="rect">
            <a:avLst/>
          </a:prstGeom>
          <a:solidFill>
            <a:srgbClr val="0177AD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B5BCBD-6022-6547-8848-42E2A2CD4B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21B0BEB3-123D-0D4E-8E1E-832844438F56}"/>
              </a:ext>
            </a:extLst>
          </p:cNvPr>
          <p:cNvSpPr txBox="1">
            <a:spLocks/>
          </p:cNvSpPr>
          <p:nvPr/>
        </p:nvSpPr>
        <p:spPr>
          <a:xfrm>
            <a:off x="1301715" y="2957792"/>
            <a:ext cx="10890284" cy="3067358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318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kern="1200" spc="-151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200" spc="0" dirty="0">
                <a:solidFill>
                  <a:schemeClr val="bg2"/>
                </a:solidFill>
              </a:rPr>
              <a:t>The Information Propagation Framework</a:t>
            </a:r>
          </a:p>
          <a:p>
            <a:endParaRPr lang="en-GB" sz="4200" spc="0" dirty="0">
              <a:solidFill>
                <a:schemeClr val="bg2"/>
              </a:solidFill>
            </a:endParaRPr>
          </a:p>
          <a:p>
            <a:r>
              <a:rPr lang="en-GB" sz="2900" i="1" spc="0" dirty="0">
                <a:solidFill>
                  <a:schemeClr val="bg2"/>
                </a:solidFill>
                <a:latin typeface="+mn-lt"/>
              </a:rPr>
              <a:t>Temitope Ohiani</a:t>
            </a:r>
          </a:p>
          <a:p>
            <a:r>
              <a:rPr lang="en-GB" sz="2900" i="1" spc="0" dirty="0">
                <a:solidFill>
                  <a:schemeClr val="bg2"/>
                </a:solidFill>
                <a:latin typeface="+mn-lt"/>
              </a:rPr>
              <a:t>Edoardo Patelli</a:t>
            </a:r>
          </a:p>
          <a:p>
            <a:endParaRPr lang="en-GB" sz="2900" b="1" spc="0" dirty="0">
              <a:solidFill>
                <a:schemeClr val="bg2"/>
              </a:solidFill>
              <a:latin typeface="+mn-lt"/>
            </a:endParaRPr>
          </a:p>
          <a:p>
            <a:endParaRPr lang="en-GB" sz="4200" spc="0" dirty="0">
              <a:solidFill>
                <a:schemeClr val="bg2"/>
              </a:solidFill>
              <a:latin typeface="+mn-lt"/>
            </a:endParaRPr>
          </a:p>
        </p:txBody>
      </p:sp>
      <p:pic>
        <p:nvPicPr>
          <p:cNvPr id="38" name="Picture 37" descr="Shape  Description automatically generated with low confidence">
            <a:extLst>
              <a:ext uri="{FF2B5EF4-FFF2-40B4-BE49-F238E27FC236}">
                <a16:creationId xmlns:a16="http://schemas.microsoft.com/office/drawing/2014/main" id="{C319BEC0-52CE-2DFA-DC9A-547019461A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7887" y="436557"/>
            <a:ext cx="4079583" cy="1208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672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4C9CAD-2277-D515-FDEE-8608D01E68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35873" y="6418877"/>
            <a:ext cx="513735" cy="227164"/>
          </a:xfrm>
        </p:spPr>
        <p:txBody>
          <a:bodyPr anchor="ctr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GB" smtClean="0"/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2</a:t>
            </a:fld>
            <a:endParaRPr lang="en-GB"/>
          </a:p>
        </p:txBody>
      </p:sp>
      <p:pic>
        <p:nvPicPr>
          <p:cNvPr id="5" name="Content Placeholder 20" descr="A picture containing cartoon, LEGO  Description automatically generated">
            <a:extLst>
              <a:ext uri="{FF2B5EF4-FFF2-40B4-BE49-F238E27FC236}">
                <a16:creationId xmlns:a16="http://schemas.microsoft.com/office/drawing/2014/main" id="{657BE77A-B62F-3267-CCA9-354F2B54CD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7538" y="2203830"/>
            <a:ext cx="4339479" cy="4328629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B2B9FA-4EB2-1795-3F56-04E225EA9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5112" y="129108"/>
            <a:ext cx="5699873" cy="1054234"/>
          </a:xfrm>
        </p:spPr>
        <p:txBody>
          <a:bodyPr anchor="t">
            <a:normAutofit/>
          </a:bodyPr>
          <a:lstStyle/>
          <a:p>
            <a:pPr algn="r"/>
            <a:r>
              <a:rPr lang="en-GB" sz="4000" spc="-151" dirty="0"/>
              <a:t>Motivation 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823CF09-68CB-FB25-14DD-AEFDD35B5931}"/>
              </a:ext>
            </a:extLst>
          </p:cNvPr>
          <p:cNvSpPr txBox="1">
            <a:spLocks/>
          </p:cNvSpPr>
          <p:nvPr/>
        </p:nvSpPr>
        <p:spPr>
          <a:xfrm>
            <a:off x="1164770" y="1204002"/>
            <a:ext cx="10725593" cy="92705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0" indent="0" algn="l" defTabSz="914318" rtl="0" eaLnBrk="1" latinLnBrk="0" hangingPunct="1">
              <a:lnSpc>
                <a:spcPct val="120000"/>
              </a:lnSpc>
              <a:spcBef>
                <a:spcPts val="1000"/>
              </a:spcBef>
              <a:buClr>
                <a:srgbClr val="0177AD"/>
              </a:buClr>
              <a:buFont typeface="Wingdings" pitchFamily="2" charset="2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Clr>
                <a:srgbClr val="0177AD"/>
              </a:buClr>
              <a:buFont typeface="Wingdings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Clr>
                <a:srgbClr val="0177AD"/>
              </a:buClr>
              <a:buFont typeface="Wingdings" pitchFamily="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Clr>
                <a:srgbClr val="0177AD"/>
              </a:buClr>
              <a:buFont typeface="Wingdings" pitchFamily="2" charset="2"/>
              <a:buNone/>
              <a:defRPr sz="10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Clr>
                <a:srgbClr val="0177AD"/>
              </a:buClr>
              <a:buFont typeface="Wingdings" pitchFamily="2" charset="2"/>
              <a:buNone/>
              <a:defRPr sz="1000" kern="1200" baseline="0">
                <a:solidFill>
                  <a:schemeClr val="tx1">
                    <a:alpha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374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34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692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50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dirty="0"/>
              <a:t>Evaluating complex civil infrastructure often requires multiple perspectives of the same system to fully understand its behaviour and performance. In practice:</a:t>
            </a: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B5E64046-D58A-42A6-E0F8-4F92CFF95EB9}"/>
              </a:ext>
            </a:extLst>
          </p:cNvPr>
          <p:cNvSpPr txBox="1">
            <a:spLocks/>
          </p:cNvSpPr>
          <p:nvPr/>
        </p:nvSpPr>
        <p:spPr>
          <a:xfrm>
            <a:off x="1213775" y="2255942"/>
            <a:ext cx="6300757" cy="390439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0" indent="0" algn="l" defTabSz="914318" rtl="0" eaLnBrk="1" latinLnBrk="0" hangingPunct="1">
              <a:lnSpc>
                <a:spcPct val="120000"/>
              </a:lnSpc>
              <a:spcBef>
                <a:spcPts val="1000"/>
              </a:spcBef>
              <a:buClr>
                <a:srgbClr val="0177AD"/>
              </a:buClr>
              <a:buFont typeface="Wingdings" pitchFamily="2" charset="2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Clr>
                <a:srgbClr val="0177AD"/>
              </a:buClr>
              <a:buFont typeface="Wingdings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Clr>
                <a:srgbClr val="0177AD"/>
              </a:buClr>
              <a:buFont typeface="Wingdings" pitchFamily="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Clr>
                <a:srgbClr val="0177AD"/>
              </a:buClr>
              <a:buFont typeface="Wingdings" pitchFamily="2" charset="2"/>
              <a:buNone/>
              <a:defRPr sz="10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Clr>
                <a:srgbClr val="0177AD"/>
              </a:buClr>
              <a:buFont typeface="Wingdings" pitchFamily="2" charset="2"/>
              <a:buNone/>
              <a:defRPr sz="1000" kern="1200" baseline="0">
                <a:solidFill>
                  <a:schemeClr val="tx1">
                    <a:alpha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374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34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692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50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1800" dirty="0"/>
              <a:t>Each analysis type typically demands its own tool and model definition, so the same network ends up represented and maintained multiple times in parallel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1800" dirty="0"/>
              <a:t>As systems grow in scale and complexity, fragmentation compounds: more analysis types, more scenarios, more parallel models to maintain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1800" dirty="0"/>
              <a:t>When tools are used in isolation, cross-analysis insight is lost.  For example: a flow bottleneck and a reliability failure point may be the same edge, but separate models make this invisible</a:t>
            </a:r>
          </a:p>
        </p:txBody>
      </p:sp>
    </p:spTree>
    <p:extLst>
      <p:ext uri="{BB962C8B-B14F-4D97-AF65-F5344CB8AC3E}">
        <p14:creationId xmlns:p14="http://schemas.microsoft.com/office/powerpoint/2010/main" val="3544569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02DAE-CBF6-AC60-2CE6-4756E62F6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205BFB-AC6C-2E4F-2D0A-829D790440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35873" y="6418877"/>
            <a:ext cx="513735" cy="227164"/>
          </a:xfrm>
        </p:spPr>
        <p:txBody>
          <a:bodyPr anchor="ctr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GB" smtClean="0"/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3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83A894-908B-5E32-98D8-C5FBEE5FE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232" y="129108"/>
            <a:ext cx="10978753" cy="1054234"/>
          </a:xfrm>
        </p:spPr>
        <p:txBody>
          <a:bodyPr anchor="t">
            <a:noAutofit/>
          </a:bodyPr>
          <a:lstStyle/>
          <a:p>
            <a:pPr algn="r"/>
            <a:r>
              <a:rPr lang="en-GB" sz="3200" spc="-151" dirty="0"/>
              <a:t>The Information Propagation Framework </a:t>
            </a:r>
            <a:endParaRPr lang="en-GB" sz="3000" spc="-151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D6884391-90A0-1B89-A03F-AE9A737067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5721" y="2059708"/>
            <a:ext cx="5294851" cy="3132802"/>
          </a:xfrm>
          <a:prstGeom prst="rect">
            <a:avLst/>
          </a:prstGeom>
          <a:ln w="12700">
            <a:noFill/>
          </a:ln>
        </p:spPr>
      </p:pic>
      <p:sp>
        <p:nvSpPr>
          <p:cNvPr id="51" name="Content Placeholder 4">
            <a:extLst>
              <a:ext uri="{FF2B5EF4-FFF2-40B4-BE49-F238E27FC236}">
                <a16:creationId xmlns:a16="http://schemas.microsoft.com/office/drawing/2014/main" id="{DA3E287A-8189-EFBD-6AD4-813E39F9ABDD}"/>
              </a:ext>
            </a:extLst>
          </p:cNvPr>
          <p:cNvSpPr txBox="1">
            <a:spLocks/>
          </p:cNvSpPr>
          <p:nvPr/>
        </p:nvSpPr>
        <p:spPr>
          <a:xfrm>
            <a:off x="1106232" y="1598190"/>
            <a:ext cx="5183828" cy="3904393"/>
          </a:xfrm>
          <a:prstGeom prst="rect">
            <a:avLst/>
          </a:prstGeom>
        </p:spPr>
        <p:txBody>
          <a:bodyPr vert="horz" lIns="0" tIns="45720" rIns="0" bIns="45720" rtlCol="0">
            <a:normAutofit fontScale="92500" lnSpcReduction="20000"/>
          </a:bodyPr>
          <a:lstStyle>
            <a:lvl1pPr marL="0" indent="0" algn="l" defTabSz="914318" rtl="0" eaLnBrk="1" latinLnBrk="0" hangingPunct="1">
              <a:lnSpc>
                <a:spcPct val="120000"/>
              </a:lnSpc>
              <a:spcBef>
                <a:spcPts val="1000"/>
              </a:spcBef>
              <a:buClr>
                <a:srgbClr val="0177AD"/>
              </a:buClr>
              <a:buFont typeface="Wingdings" pitchFamily="2" charset="2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Clr>
                <a:srgbClr val="0177AD"/>
              </a:buClr>
              <a:buFont typeface="Wingdings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Clr>
                <a:srgbClr val="0177AD"/>
              </a:buClr>
              <a:buFont typeface="Wingdings" pitchFamily="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Clr>
                <a:srgbClr val="0177AD"/>
              </a:buClr>
              <a:buFont typeface="Wingdings" pitchFamily="2" charset="2"/>
              <a:buNone/>
              <a:defRPr sz="10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Clr>
                <a:srgbClr val="0177AD"/>
              </a:buClr>
              <a:buFont typeface="Wingdings" pitchFamily="2" charset="2"/>
              <a:buNone/>
              <a:defRPr sz="1000" kern="1200" baseline="0">
                <a:solidFill>
                  <a:schemeClr val="tx1">
                    <a:alpha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374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34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692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50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900" dirty="0"/>
              <a:t>An integrated Julia-based framework for analysing how failures, time, cost, and capacity propagate through networks modelled as directed acyclic graphs.</a:t>
            </a:r>
          </a:p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GB" sz="1900" dirty="0"/>
          </a:p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900" dirty="0"/>
              <a:t> A single network model is defined once and reused across multiple exact propagation-based algorithms, with each analysis supplying only its own specific parameters.</a:t>
            </a:r>
          </a:p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GB" sz="1900" dirty="0"/>
          </a:p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900" dirty="0"/>
              <a:t>Each algorithm is a vertical slice, so structural preprocessing is performed once and shared across all analyses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1737467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90EE4-2F37-3226-2AAC-770AE662A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5132C-E035-21C2-53D5-8C81E3A01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4509" y="124432"/>
            <a:ext cx="10573801" cy="763500"/>
          </a:xfrm>
        </p:spPr>
        <p:txBody>
          <a:bodyPr/>
          <a:lstStyle/>
          <a:p>
            <a:pPr algn="r"/>
            <a:r>
              <a:rPr lang="en-GB" sz="4000" dirty="0"/>
              <a:t>Why Directed Acyclic Graphs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9996CB-3180-4F0D-D493-9746E09D8C8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4</a:t>
            </a:fld>
            <a:endParaRPr lang="en-GB"/>
          </a:p>
        </p:txBody>
      </p:sp>
      <p:pic>
        <p:nvPicPr>
          <p:cNvPr id="7" name="Picture 6" descr="A picture containing text, kite, flying, people  Description automatically generated">
            <a:extLst>
              <a:ext uri="{FF2B5EF4-FFF2-40B4-BE49-F238E27FC236}">
                <a16:creationId xmlns:a16="http://schemas.microsoft.com/office/drawing/2014/main" id="{55050842-FD06-9EFC-1C94-BB2C906584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6199" y="1863677"/>
            <a:ext cx="4408957" cy="3306718"/>
          </a:xfrm>
          <a:prstGeom prst="rect">
            <a:avLst/>
          </a:prstGeom>
        </p:spPr>
      </p:pic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D4064F59-3638-3C71-2DAB-2ED7F2AD7D90}"/>
              </a:ext>
            </a:extLst>
          </p:cNvPr>
          <p:cNvSpPr txBox="1">
            <a:spLocks/>
          </p:cNvSpPr>
          <p:nvPr/>
        </p:nvSpPr>
        <p:spPr>
          <a:xfrm>
            <a:off x="1194637" y="1298074"/>
            <a:ext cx="5346327" cy="426185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0" indent="0" algn="l" defTabSz="914318" rtl="0" eaLnBrk="1" latinLnBrk="0" hangingPunct="1">
              <a:lnSpc>
                <a:spcPct val="120000"/>
              </a:lnSpc>
              <a:spcBef>
                <a:spcPts val="1000"/>
              </a:spcBef>
              <a:buClr>
                <a:srgbClr val="0177AD"/>
              </a:buClr>
              <a:buFont typeface="Wingdings" pitchFamily="2" charset="2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Clr>
                <a:srgbClr val="0177AD"/>
              </a:buClr>
              <a:buFont typeface="Wingdings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Clr>
                <a:srgbClr val="0177AD"/>
              </a:buClr>
              <a:buFont typeface="Wingdings" pitchFamily="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Clr>
                <a:srgbClr val="0177AD"/>
              </a:buClr>
              <a:buFont typeface="Wingdings" pitchFamily="2" charset="2"/>
              <a:buNone/>
              <a:defRPr sz="10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Clr>
                <a:srgbClr val="0177AD"/>
              </a:buClr>
              <a:buFont typeface="Wingdings" pitchFamily="2" charset="2"/>
              <a:buNone/>
              <a:defRPr sz="1000" kern="1200" baseline="0">
                <a:solidFill>
                  <a:schemeClr val="tx1">
                    <a:alpha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374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34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692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50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Infrastructure systems typically involve goal-oriented processes where resources and information flow from sources toward sink.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Topological sorting provides a fixed, dependency-aware node processing order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Acyclicity ensures all algorithm guaranteed termination with no infinite loops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Nodes in the same topological layer are independent, allowing for parallelization boundaries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Exact solutions can be computed in a single forward pass since no iterative convergence required</a:t>
            </a:r>
          </a:p>
          <a:p>
            <a:pPr>
              <a:lnSpc>
                <a:spcPct val="110000"/>
              </a:lnSpc>
            </a:pPr>
            <a:endParaRPr lang="en-US" sz="1800" dirty="0"/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058513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7A2B8-89E5-65BD-429D-4B9809D54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A6763-4E3E-0DFD-AF76-4CDEB9003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4509" y="124432"/>
            <a:ext cx="10573801" cy="763500"/>
          </a:xfrm>
        </p:spPr>
        <p:txBody>
          <a:bodyPr/>
          <a:lstStyle/>
          <a:p>
            <a:pPr algn="r"/>
            <a:r>
              <a:rPr lang="en-GB" dirty="0"/>
              <a:t>Algorithm family 1: Critical Path</a:t>
            </a:r>
            <a:endParaRPr lang="en-GB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A8F4E6-8B91-F7AA-02B1-0B83A66C7E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5</a:t>
            </a:fld>
            <a:endParaRPr lang="en-GB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75FDC88-A2FE-E200-3D47-1B9FFCBBF2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3824" y="1882585"/>
            <a:ext cx="4781880" cy="3831621"/>
          </a:xfrm>
          <a:prstGeom prst="rect">
            <a:avLst/>
          </a:prstGeom>
        </p:spPr>
      </p:pic>
      <p:sp>
        <p:nvSpPr>
          <p:cNvPr id="18" name="Content Placeholder 4">
            <a:extLst>
              <a:ext uri="{FF2B5EF4-FFF2-40B4-BE49-F238E27FC236}">
                <a16:creationId xmlns:a16="http://schemas.microsoft.com/office/drawing/2014/main" id="{23FF677F-709E-2A4D-4114-2BF6088FBFDB}"/>
              </a:ext>
            </a:extLst>
          </p:cNvPr>
          <p:cNvSpPr txBox="1">
            <a:spLocks/>
          </p:cNvSpPr>
          <p:nvPr/>
        </p:nvSpPr>
        <p:spPr>
          <a:xfrm>
            <a:off x="1223298" y="2607408"/>
            <a:ext cx="6161510" cy="28853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0" indent="0" algn="l" defTabSz="914318" rtl="0" eaLnBrk="1" latinLnBrk="0" hangingPunct="1">
              <a:lnSpc>
                <a:spcPct val="120000"/>
              </a:lnSpc>
              <a:spcBef>
                <a:spcPts val="1000"/>
              </a:spcBef>
              <a:buClr>
                <a:srgbClr val="0177AD"/>
              </a:buClr>
              <a:buFont typeface="Wingdings" pitchFamily="2" charset="2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Clr>
                <a:srgbClr val="0177AD"/>
              </a:buClr>
              <a:buFont typeface="Wingdings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Clr>
                <a:srgbClr val="0177AD"/>
              </a:buClr>
              <a:buFont typeface="Wingdings" pitchFamily="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Clr>
                <a:srgbClr val="0177AD"/>
              </a:buClr>
              <a:buFont typeface="Wingdings" pitchFamily="2" charset="2"/>
              <a:buNone/>
              <a:defRPr sz="10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Clr>
                <a:srgbClr val="0177AD"/>
              </a:buClr>
              <a:buFont typeface="Wingdings" pitchFamily="2" charset="2"/>
              <a:buNone/>
              <a:defRPr sz="1000" kern="1200" baseline="0">
                <a:solidFill>
                  <a:schemeClr val="tx1">
                    <a:alpha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374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34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692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50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30"/>
            <a:r>
              <a:rPr lang="en-GB" sz="1800" dirty="0"/>
              <a:t>Given the shared network model, this module answers:</a:t>
            </a:r>
          </a:p>
          <a:p>
            <a:pPr marL="285750" indent="-285750" defTabSz="914330">
              <a:buFont typeface="Arial" panose="020B0604020202020204" pitchFamily="34" charset="0"/>
              <a:buChar char="•"/>
            </a:pPr>
            <a:r>
              <a:rPr lang="en-GB" sz="1800" dirty="0"/>
              <a:t>What is the best or worst achievable outcome from source(s) to sink(s)?</a:t>
            </a:r>
          </a:p>
          <a:p>
            <a:pPr marL="285750" indent="-285750" defTabSz="914330">
              <a:buFont typeface="Arial" panose="020B0604020202020204" pitchFamily="34" charset="0"/>
              <a:buChar char="•"/>
            </a:pPr>
            <a:r>
              <a:rPr lang="en-GB" sz="1800" dirty="0"/>
              <a:t>Which sequence of dependencies drives that outcome?</a:t>
            </a:r>
          </a:p>
          <a:p>
            <a:pPr marL="285750" indent="-285750" defTabSz="914330">
              <a:buFont typeface="Arial" panose="020B0604020202020204" pitchFamily="34" charset="0"/>
              <a:buChar char="•"/>
            </a:pPr>
            <a:r>
              <a:rPr lang="en-GB" sz="1800" dirty="0"/>
              <a:t>Which components of the network have margin to spare, and which have none?</a:t>
            </a:r>
          </a:p>
          <a:p>
            <a:pPr marL="285750" indent="-285750" defTabSz="914330">
              <a:buFont typeface="Arial" panose="020B0604020202020204" pitchFamily="34" charset="0"/>
              <a:buChar char="•"/>
            </a:pPr>
            <a:r>
              <a:rPr lang="en-GB" sz="1800" dirty="0"/>
              <a:t>How does the outcome shift if one input changes?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D0A84EA-0BB2-3B2E-3DFD-A41894AADA55}"/>
              </a:ext>
            </a:extLst>
          </p:cNvPr>
          <p:cNvSpPr txBox="1"/>
          <p:nvPr/>
        </p:nvSpPr>
        <p:spPr>
          <a:xfrm>
            <a:off x="1151701" y="1455840"/>
            <a:ext cx="109042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Analysis Perspective: </a:t>
            </a:r>
            <a:r>
              <a:rPr lang="en-GB" dirty="0"/>
              <a:t>Performance metrics that accumulate along dependency paths in a network such as duration, cost, risk, latency, impact, etc.</a:t>
            </a:r>
          </a:p>
        </p:txBody>
      </p:sp>
    </p:spTree>
    <p:extLst>
      <p:ext uri="{BB962C8B-B14F-4D97-AF65-F5344CB8AC3E}">
        <p14:creationId xmlns:p14="http://schemas.microsoft.com/office/powerpoint/2010/main" val="2612624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5EC1F-5352-B943-4953-6D9E124B0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05374-5EDA-D5AE-7D10-50D53A486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4509" y="124432"/>
            <a:ext cx="10573801" cy="763500"/>
          </a:xfrm>
        </p:spPr>
        <p:txBody>
          <a:bodyPr/>
          <a:lstStyle/>
          <a:p>
            <a:pPr algn="r"/>
            <a:r>
              <a:rPr lang="en-GB" dirty="0"/>
              <a:t>Critical Path</a:t>
            </a:r>
            <a:endParaRPr lang="en-GB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85C662-92AB-780F-2996-21124BA4A1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6</a:t>
            </a:fld>
            <a:endParaRPr lang="en-GB"/>
          </a:p>
        </p:txBody>
      </p:sp>
      <p:sp>
        <p:nvSpPr>
          <p:cNvPr id="18" name="Content Placeholder 4">
            <a:extLst>
              <a:ext uri="{FF2B5EF4-FFF2-40B4-BE49-F238E27FC236}">
                <a16:creationId xmlns:a16="http://schemas.microsoft.com/office/drawing/2014/main" id="{4BADE43F-33F9-AFE9-ED37-A73E3056295C}"/>
              </a:ext>
            </a:extLst>
          </p:cNvPr>
          <p:cNvSpPr txBox="1">
            <a:spLocks/>
          </p:cNvSpPr>
          <p:nvPr/>
        </p:nvSpPr>
        <p:spPr>
          <a:xfrm>
            <a:off x="1286579" y="2670079"/>
            <a:ext cx="6161510" cy="28853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0" indent="0" algn="l" defTabSz="914318" rtl="0" eaLnBrk="1" latinLnBrk="0" hangingPunct="1">
              <a:lnSpc>
                <a:spcPct val="120000"/>
              </a:lnSpc>
              <a:spcBef>
                <a:spcPts val="1000"/>
              </a:spcBef>
              <a:buClr>
                <a:srgbClr val="0177AD"/>
              </a:buClr>
              <a:buFont typeface="Wingdings" pitchFamily="2" charset="2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Clr>
                <a:srgbClr val="0177AD"/>
              </a:buClr>
              <a:buFont typeface="Wingdings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Clr>
                <a:srgbClr val="0177AD"/>
              </a:buClr>
              <a:buFont typeface="Wingdings" pitchFamily="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Clr>
                <a:srgbClr val="0177AD"/>
              </a:buClr>
              <a:buFont typeface="Wingdings" pitchFamily="2" charset="2"/>
              <a:buNone/>
              <a:defRPr sz="10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Clr>
                <a:srgbClr val="0177AD"/>
              </a:buClr>
              <a:buFont typeface="Wingdings" pitchFamily="2" charset="2"/>
              <a:buNone/>
              <a:defRPr sz="1000" kern="1200" baseline="0">
                <a:solidFill>
                  <a:schemeClr val="tx1">
                    <a:alpha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374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34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692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50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30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B795213-D2AF-04B1-7789-FEC51E92FC96}"/>
                  </a:ext>
                </a:extLst>
              </p:cNvPr>
              <p:cNvSpPr txBox="1"/>
              <p:nvPr/>
            </p:nvSpPr>
            <p:spPr>
              <a:xfrm>
                <a:off x="1289286" y="1446482"/>
                <a:ext cx="10904246" cy="4481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dirty="0"/>
                  <a:t>This module's default critical path solver computes the longest path through the DAG via forward and backward propagation:</a:t>
                </a:r>
              </a:p>
              <a:p>
                <a:endParaRPr lang="en-GB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Forward pass:</a:t>
                </a:r>
              </a:p>
              <a:p>
                <a:pPr lvl="4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>
                          <a:latin typeface="Cambria Math" panose="02040503050406030204" pitchFamily="18" charset="0"/>
                        </a:rPr>
                        <m:t>ES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parents</m:t>
                              </m:r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ES</m:t>
                              </m:r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d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GB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Backward pass:</a:t>
                </a:r>
              </a:p>
              <a:p>
                <a:pPr lvl="4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>
                          <a:latin typeface="Cambria Math" panose="02040503050406030204" pitchFamily="18" charset="0"/>
                        </a:rPr>
                        <m:t>LS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children</m:t>
                              </m:r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LS</m:t>
                              </m:r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</m:d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GB" dirty="0"/>
              </a:p>
              <a:p>
                <a:pPr lvl="1"/>
                <a:endParaRPr lang="en-GB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Slack:</a:t>
                </a:r>
              </a:p>
              <a:p>
                <a:pPr lvl="4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>
                          <a:latin typeface="Cambria Math" panose="02040503050406030204" pitchFamily="18" charset="0"/>
                        </a:rPr>
                        <m:t>LS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GB">
                          <a:latin typeface="Cambria Math" panose="02040503050406030204" pitchFamily="18" charset="0"/>
                        </a:rPr>
                        <m:t>ES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</m:oMath>
                  </m:oMathPara>
                </a14:m>
                <a:endParaRPr lang="en-GB" dirty="0"/>
              </a:p>
              <a:p>
                <a:pPr lvl="4"/>
                <a:endParaRPr lang="en-GB" dirty="0"/>
              </a:p>
              <a:p>
                <a:pPr lvl="4"/>
                <a:endParaRPr lang="en-GB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Therefore, </a:t>
                </a:r>
                <a:r>
                  <a:rPr lang="en-GB" b="1" dirty="0"/>
                  <a:t>critical path</a:t>
                </a:r>
                <a:r>
                  <a:rPr lang="en-GB" dirty="0"/>
                  <a:t> =&gt; nodes where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GB" dirty="0"/>
              </a:p>
              <a:p>
                <a:pPr lvl="1"/>
                <a:endParaRPr lang="en-GB" dirty="0"/>
              </a:p>
              <a:p>
                <a:pPr lvl="1"/>
                <a:endParaRPr lang="en-GB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B795213-D2AF-04B1-7789-FEC51E92FC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9286" y="1446482"/>
                <a:ext cx="10904246" cy="4481099"/>
              </a:xfrm>
              <a:prstGeom prst="rect">
                <a:avLst/>
              </a:prstGeom>
              <a:blipFill>
                <a:blip r:embed="rId3"/>
                <a:stretch>
                  <a:fillRect l="-447" t="-6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0DF277FE-602A-5797-0230-9F01F96C4B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9984" y="2274926"/>
            <a:ext cx="4861427" cy="3002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366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D391B-A2AF-6876-1D6F-D392AD999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EED3F-3A50-E667-5AD7-FA7B7FEB9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4509" y="124432"/>
            <a:ext cx="10573801" cy="763500"/>
          </a:xfrm>
        </p:spPr>
        <p:txBody>
          <a:bodyPr/>
          <a:lstStyle/>
          <a:p>
            <a:pPr algn="r"/>
            <a:r>
              <a:rPr lang="en-GB" dirty="0"/>
              <a:t>Critical Path</a:t>
            </a:r>
            <a:endParaRPr lang="en-GB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57D4DF-52B6-9D60-7C9E-C341AA1667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7</a:t>
            </a:fld>
            <a:endParaRPr lang="en-GB"/>
          </a:p>
        </p:txBody>
      </p:sp>
      <p:sp>
        <p:nvSpPr>
          <p:cNvPr id="18" name="Content Placeholder 4">
            <a:extLst>
              <a:ext uri="{FF2B5EF4-FFF2-40B4-BE49-F238E27FC236}">
                <a16:creationId xmlns:a16="http://schemas.microsoft.com/office/drawing/2014/main" id="{A5F017FB-08BC-66FC-2D54-116219406DA3}"/>
              </a:ext>
            </a:extLst>
          </p:cNvPr>
          <p:cNvSpPr txBox="1">
            <a:spLocks/>
          </p:cNvSpPr>
          <p:nvPr/>
        </p:nvSpPr>
        <p:spPr>
          <a:xfrm>
            <a:off x="1277087" y="2670079"/>
            <a:ext cx="6161510" cy="28853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0" indent="0" algn="l" defTabSz="914318" rtl="0" eaLnBrk="1" latinLnBrk="0" hangingPunct="1">
              <a:lnSpc>
                <a:spcPct val="120000"/>
              </a:lnSpc>
              <a:spcBef>
                <a:spcPts val="1000"/>
              </a:spcBef>
              <a:buClr>
                <a:srgbClr val="0177AD"/>
              </a:buClr>
              <a:buFont typeface="Wingdings" pitchFamily="2" charset="2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Clr>
                <a:srgbClr val="0177AD"/>
              </a:buClr>
              <a:buFont typeface="Wingdings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Clr>
                <a:srgbClr val="0177AD"/>
              </a:buClr>
              <a:buFont typeface="Wingdings" pitchFamily="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Clr>
                <a:srgbClr val="0177AD"/>
              </a:buClr>
              <a:buFont typeface="Wingdings" pitchFamily="2" charset="2"/>
              <a:buNone/>
              <a:defRPr sz="10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Clr>
                <a:srgbClr val="0177AD"/>
              </a:buClr>
              <a:buFont typeface="Wingdings" pitchFamily="2" charset="2"/>
              <a:buNone/>
              <a:defRPr sz="1000" kern="1200" baseline="0">
                <a:solidFill>
                  <a:schemeClr val="tx1">
                    <a:alpha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374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34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692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50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30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29AECFB-9907-AAB8-79FB-C75E41CA1EF4}"/>
                  </a:ext>
                </a:extLst>
              </p:cNvPr>
              <p:cNvSpPr txBox="1"/>
              <p:nvPr/>
            </p:nvSpPr>
            <p:spPr>
              <a:xfrm>
                <a:off x="1230801" y="741407"/>
                <a:ext cx="10904246" cy="37439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IPF’s propagation logic is unit-agnostic and is applicable to any quantity that accumulates along paths in the network</a:t>
                </a:r>
              </a:p>
              <a:p>
                <a:endParaRPr lang="en-GB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This is generalized by the two user configurable operators exposed:</a:t>
                </a:r>
              </a:p>
              <a:p>
                <a:pPr marL="742915" lvl="1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⊕ (combinator) : how multiple incoming paths reconcile </a:t>
                </a:r>
              </a:p>
              <a:p>
                <a:pPr marL="742915" lvl="1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⊗ (propagator): how a value compounds along one edge</a:t>
                </a:r>
              </a:p>
              <a:p>
                <a:endParaRPr lang="en-GB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Giving the general form: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⨁"/>
                          <m:limLoc m:val="undOvr"/>
                          <m:supHide m:val="on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∈</m:t>
                          </m:r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parents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func>
                        </m:sub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d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⊗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GB" dirty="0"/>
              </a:p>
              <a:p>
                <a:pPr algn="ctr"/>
                <a:r>
                  <a:rPr lang="en-GB" sz="1100" i="1" dirty="0"/>
                  <a:t>where ⊕ = max, ⊗ = </a:t>
                </a:r>
                <a:r>
                  <a:rPr lang="en-GB" sz="1100" dirty="0"/>
                  <a:t>additive</a:t>
                </a:r>
                <a:r>
                  <a:rPr lang="en-GB" sz="1100" i="1" dirty="0"/>
                  <a:t> resolves back to the classic forward/backward passes of the framework's default operators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B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Regardless of combinator/propagator choice: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)  </m:t>
                    </m:r>
                  </m:oMath>
                </a14:m>
                <a:r>
                  <a:rPr lang="en-GB" dirty="0"/>
                  <a:t>vs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GB" i="1" dirty="0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p>
                        </m:sSup>
                      </m:e>
                    </m:d>
                  </m:oMath>
                </a14:m>
                <a:r>
                  <a:rPr lang="en-GB" dirty="0"/>
                  <a:t> with naive path enumeration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29AECFB-9907-AAB8-79FB-C75E41CA1E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0801" y="741407"/>
                <a:ext cx="10904246" cy="3743910"/>
              </a:xfrm>
              <a:prstGeom prst="rect">
                <a:avLst/>
              </a:prstGeom>
              <a:blipFill>
                <a:blip r:embed="rId3"/>
                <a:stretch>
                  <a:fillRect l="-391" t="-977" b="-21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EC47DE6-854F-B363-81F7-300FEB69E4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2621964"/>
              </p:ext>
            </p:extLst>
          </p:nvPr>
        </p:nvGraphicFramePr>
        <p:xfrm>
          <a:off x="4729039" y="4695396"/>
          <a:ext cx="7291551" cy="19337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0517">
                  <a:extLst>
                    <a:ext uri="{9D8B030D-6E8A-4147-A177-3AD203B41FA5}">
                      <a16:colId xmlns:a16="http://schemas.microsoft.com/office/drawing/2014/main" val="2800090161"/>
                    </a:ext>
                  </a:extLst>
                </a:gridCol>
                <a:gridCol w="2430517">
                  <a:extLst>
                    <a:ext uri="{9D8B030D-6E8A-4147-A177-3AD203B41FA5}">
                      <a16:colId xmlns:a16="http://schemas.microsoft.com/office/drawing/2014/main" val="3437332220"/>
                    </a:ext>
                  </a:extLst>
                </a:gridCol>
                <a:gridCol w="2430517">
                  <a:extLst>
                    <a:ext uri="{9D8B030D-6E8A-4147-A177-3AD203B41FA5}">
                      <a16:colId xmlns:a16="http://schemas.microsoft.com/office/drawing/2014/main" val="2712097388"/>
                    </a:ext>
                  </a:extLst>
                </a:gridCol>
              </a:tblGrid>
              <a:tr h="3432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effectLst/>
                        </a:rPr>
                        <a:t>Combinator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effectLst/>
                        </a:rPr>
                        <a:t>Propagator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effectLst/>
                        </a:rPr>
                        <a:t>Typical Domain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22508595"/>
                  </a:ext>
                </a:extLst>
              </a:tr>
              <a:tr h="3363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effectLst/>
                        </a:rPr>
                        <a:t>max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effectLst/>
                        </a:rPr>
                        <a:t>additive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effectLst/>
                        </a:rPr>
                        <a:t>time / latency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69185820"/>
                  </a:ext>
                </a:extLst>
              </a:tr>
              <a:tr h="3432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effectLst/>
                        </a:rPr>
                        <a:t>sum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effectLst/>
                        </a:rPr>
                        <a:t>additive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effectLst/>
                        </a:rPr>
                        <a:t>cost roll-up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45385290"/>
                  </a:ext>
                </a:extLst>
              </a:tr>
              <a:tr h="3432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effectLst/>
                        </a:rPr>
                        <a:t>max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effectLst/>
                        </a:rPr>
                        <a:t>multiplicative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effectLst/>
                        </a:rPr>
                        <a:t>risk propagation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86483543"/>
                  </a:ext>
                </a:extLst>
              </a:tr>
              <a:tr h="5254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min </a:t>
                      </a:r>
                      <a:endParaRPr lang="en-GB" dirty="0">
                        <a:effectLst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effectLst/>
                        </a:rPr>
                        <a:t>additive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network routing / optimistic scheduling</a:t>
                      </a:r>
                      <a:endParaRPr lang="en-GB" dirty="0">
                        <a:effectLst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434992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0570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13CBE-E463-1AC1-0B1F-F262FDEDB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E8047-0FAF-12C7-BBC9-C1C4B0171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4509" y="124432"/>
            <a:ext cx="10573801" cy="763500"/>
          </a:xfrm>
        </p:spPr>
        <p:txBody>
          <a:bodyPr/>
          <a:lstStyle/>
          <a:p>
            <a:pPr algn="r"/>
            <a:r>
              <a:rPr lang="en-GB" dirty="0"/>
              <a:t>Critical Path: </a:t>
            </a:r>
            <a:r>
              <a:rPr lang="en-GB" sz="4000" b="1" dirty="0"/>
              <a:t>Case Study</a:t>
            </a:r>
            <a:endParaRPr lang="en-GB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389094-FCF2-1C70-1767-414E0D63061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8</a:t>
            </a:fld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4E988C-A76C-5F74-2848-57DFBA2CE914}"/>
              </a:ext>
            </a:extLst>
          </p:cNvPr>
          <p:cNvSpPr txBox="1"/>
          <p:nvPr/>
        </p:nvSpPr>
        <p:spPr>
          <a:xfrm>
            <a:off x="1008314" y="6366846"/>
            <a:ext cx="111357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i="1" dirty="0">
                <a:effectLst/>
              </a:rPr>
              <a:t>[1]Derived from Network Structure in {F. V. Jensen, U. Kjærulff, K. G. Olesen and J. Pedersen. Et </a:t>
            </a:r>
            <a:r>
              <a:rPr lang="en-GB" sz="800" i="1" dirty="0" err="1">
                <a:effectLst/>
              </a:rPr>
              <a:t>Forprojekt</a:t>
            </a:r>
            <a:r>
              <a:rPr lang="en-GB" sz="800" i="1" dirty="0">
                <a:effectLst/>
              </a:rPr>
              <a:t> Til et </a:t>
            </a:r>
            <a:r>
              <a:rPr lang="en-GB" sz="800" i="1" dirty="0" err="1">
                <a:effectLst/>
              </a:rPr>
              <a:t>Ekspertsystem</a:t>
            </a:r>
            <a:r>
              <a:rPr lang="en-GB" sz="800" i="1" dirty="0">
                <a:effectLst/>
              </a:rPr>
              <a:t> for Drift </a:t>
            </a:r>
            <a:r>
              <a:rPr lang="en-GB" sz="800" i="1" dirty="0" err="1">
                <a:effectLst/>
              </a:rPr>
              <a:t>af</a:t>
            </a:r>
            <a:r>
              <a:rPr lang="en-GB" sz="800" i="1" dirty="0">
                <a:effectLst/>
              </a:rPr>
              <a:t> </a:t>
            </a:r>
            <a:r>
              <a:rPr lang="en-GB" sz="800" i="1" dirty="0" err="1">
                <a:effectLst/>
              </a:rPr>
              <a:t>Spildevandsrensning</a:t>
            </a:r>
            <a:r>
              <a:rPr lang="en-GB" sz="800" i="1" dirty="0">
                <a:effectLst/>
              </a:rPr>
              <a:t> (An Expert System for Control of Waste Water Treatment - A Pilot Project). Technical Report, Judex </a:t>
            </a:r>
            <a:r>
              <a:rPr lang="en-GB" sz="800" i="1" dirty="0" err="1">
                <a:effectLst/>
              </a:rPr>
              <a:t>Datasystemer</a:t>
            </a:r>
            <a:r>
              <a:rPr lang="en-GB" sz="800" i="1" dirty="0">
                <a:effectLst/>
              </a:rPr>
              <a:t> A/S, Aalborg, 1989. } *</a:t>
            </a:r>
          </a:p>
          <a:p>
            <a:r>
              <a:rPr lang="en-GB" sz="800" i="1" dirty="0"/>
              <a:t>*</a:t>
            </a:r>
            <a:r>
              <a:rPr lang="en-GB" sz="800" dirty="0"/>
              <a:t>Values assigned for </a:t>
            </a:r>
            <a:r>
              <a:rPr lang="en-GB" sz="800" dirty="0" err="1"/>
              <a:t>cpm</a:t>
            </a:r>
            <a:r>
              <a:rPr lang="en-GB" sz="800" dirty="0"/>
              <a:t> demonstration - not the network's original concentration data.</a:t>
            </a:r>
            <a:endParaRPr lang="en-GB" sz="800" i="1" dirty="0">
              <a:effectLst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AF23278-0FC3-3F8B-53F3-DEF6E5E217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6653" y="1979217"/>
            <a:ext cx="4744072" cy="305339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D098953-3648-720C-B80E-AEEEA50D1A4B}"/>
              </a:ext>
            </a:extLst>
          </p:cNvPr>
          <p:cNvSpPr txBox="1"/>
          <p:nvPr/>
        </p:nvSpPr>
        <p:spPr>
          <a:xfrm>
            <a:off x="1148537" y="3170562"/>
            <a:ext cx="6071743" cy="2153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318">
              <a:lnSpc>
                <a:spcPct val="110000"/>
              </a:lnSpc>
              <a:spcBef>
                <a:spcPts val="1000"/>
              </a:spcBef>
              <a:buClr>
                <a:srgbClr val="0177AD"/>
              </a:buClr>
            </a:pPr>
            <a:r>
              <a:rPr lang="en-GB" dirty="0"/>
              <a:t>Given the same network model and same input parameters:</a:t>
            </a:r>
          </a:p>
          <a:p>
            <a:pPr marL="742915" lvl="1" indent="-285750" defTabSz="914318">
              <a:lnSpc>
                <a:spcPct val="110000"/>
              </a:lnSpc>
              <a:spcBef>
                <a:spcPts val="1000"/>
              </a:spcBef>
              <a:buClr>
                <a:srgbClr val="0177AD"/>
              </a:buClr>
              <a:buFont typeface="Arial" panose="020B0604020202020204" pitchFamily="34" charset="0"/>
              <a:buChar char="•"/>
            </a:pPr>
            <a:r>
              <a:rPr lang="en-GB" dirty="0"/>
              <a:t>Scenario 1: What is the Longest accumulating path?</a:t>
            </a:r>
          </a:p>
          <a:p>
            <a:pPr marL="742915" lvl="1" indent="-285750" defTabSz="914318">
              <a:lnSpc>
                <a:spcPct val="110000"/>
              </a:lnSpc>
              <a:spcBef>
                <a:spcPts val="1000"/>
              </a:spcBef>
              <a:buClr>
                <a:srgbClr val="0177AD"/>
              </a:buClr>
              <a:buFont typeface="Arial" panose="020B0604020202020204" pitchFamily="34" charset="0"/>
              <a:buChar char="•"/>
            </a:pPr>
            <a:r>
              <a:rPr lang="en-GB" dirty="0"/>
              <a:t>Scenario 2: What is the highest point of accumulated load?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8DE1AE-9B87-768B-0DC2-989F2626F16C}"/>
              </a:ext>
            </a:extLst>
          </p:cNvPr>
          <p:cNvSpPr txBox="1"/>
          <p:nvPr/>
        </p:nvSpPr>
        <p:spPr>
          <a:xfrm>
            <a:off x="1148536" y="1496841"/>
            <a:ext cx="569206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Wastewater treatment network</a:t>
            </a:r>
            <a:r>
              <a:rPr lang="en-GB" baseline="30000" dirty="0"/>
              <a:t>1 (</a:t>
            </a:r>
            <a:r>
              <a:rPr lang="en-GB" dirty="0"/>
              <a:t> 32 nodes, 66 edges )</a:t>
            </a:r>
          </a:p>
          <a:p>
            <a:endParaRPr lang="en-GB" dirty="0"/>
          </a:p>
          <a:p>
            <a:r>
              <a:rPr lang="en-GB" dirty="0"/>
              <a:t>Node durations: 3–9 units by node type</a:t>
            </a:r>
            <a:r>
              <a:rPr lang="en-GB" baseline="30000" dirty="0"/>
              <a:t>*</a:t>
            </a:r>
          </a:p>
          <a:p>
            <a:r>
              <a:rPr lang="en-GB" dirty="0"/>
              <a:t>Edge delays: 1–3 units by connection</a:t>
            </a:r>
            <a:r>
              <a:rPr lang="en-GB" baseline="30000" dirty="0"/>
              <a:t> </a:t>
            </a:r>
            <a:r>
              <a:rPr lang="en-GB" dirty="0"/>
              <a:t>type</a:t>
            </a:r>
            <a:r>
              <a:rPr lang="en-GB" baseline="30000" dirty="0"/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1475498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8C449-8CCC-26E1-CD84-A37D42E9F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5D7F0-F86B-D94C-9C34-89BE7F664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4509" y="124432"/>
            <a:ext cx="10573801" cy="763500"/>
          </a:xfrm>
        </p:spPr>
        <p:txBody>
          <a:bodyPr/>
          <a:lstStyle/>
          <a:p>
            <a:pPr algn="r"/>
            <a:r>
              <a:rPr lang="en-GB" dirty="0"/>
              <a:t>Critical Path: </a:t>
            </a:r>
            <a:r>
              <a:rPr lang="en-GB" sz="4000" b="1" dirty="0"/>
              <a:t>Case Study</a:t>
            </a:r>
            <a:endParaRPr lang="en-GB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F63DF9-32D6-D4D1-D28E-1FBAE6D4070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9</a:t>
            </a:fld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C739F0-EF4A-DE85-4CD6-F1CFE6530432}"/>
              </a:ext>
            </a:extLst>
          </p:cNvPr>
          <p:cNvSpPr txBox="1"/>
          <p:nvPr/>
        </p:nvSpPr>
        <p:spPr>
          <a:xfrm>
            <a:off x="1110470" y="963461"/>
            <a:ext cx="11450664" cy="1239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318">
              <a:lnSpc>
                <a:spcPct val="110000"/>
              </a:lnSpc>
              <a:spcBef>
                <a:spcPts val="1000"/>
              </a:spcBef>
              <a:buClr>
                <a:srgbClr val="0177AD"/>
              </a:buClr>
            </a:pPr>
            <a:r>
              <a:rPr lang="en-GB" b="1" dirty="0"/>
              <a:t>Scenario 1: What is the Longest accumulating path? </a:t>
            </a:r>
          </a:p>
          <a:p>
            <a:pPr marL="285750" indent="-285750" defTabSz="914318">
              <a:lnSpc>
                <a:spcPct val="110000"/>
              </a:lnSpc>
              <a:spcBef>
                <a:spcPts val="1000"/>
              </a:spcBef>
              <a:buClr>
                <a:srgbClr val="0177AD"/>
              </a:buClr>
              <a:buFont typeface="Arial" panose="020B0604020202020204" pitchFamily="34" charset="0"/>
              <a:buChar char="•"/>
            </a:pPr>
            <a:r>
              <a:rPr lang="en-GB" dirty="0"/>
              <a:t>⊕ Combinator: max, </a:t>
            </a:r>
          </a:p>
          <a:p>
            <a:pPr marL="285750" indent="-285750" defTabSz="914318">
              <a:lnSpc>
                <a:spcPct val="110000"/>
              </a:lnSpc>
              <a:spcBef>
                <a:spcPts val="1000"/>
              </a:spcBef>
              <a:buClr>
                <a:srgbClr val="0177AD"/>
              </a:buClr>
              <a:buFont typeface="Arial" panose="020B0604020202020204" pitchFamily="34" charset="0"/>
              <a:buChar char="•"/>
            </a:pPr>
            <a:r>
              <a:rPr lang="en-GB" dirty="0"/>
              <a:t>⊗ Propagator: additive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3C01460-9DA7-EBF2-36D8-54A044B11A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1409" y="2416365"/>
            <a:ext cx="5170573" cy="3327901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AD0304B-4B97-285B-3F6D-4BC8EC33A0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8981172"/>
              </p:ext>
            </p:extLst>
          </p:nvPr>
        </p:nvGraphicFramePr>
        <p:xfrm>
          <a:off x="1389704" y="2841757"/>
          <a:ext cx="3704360" cy="2560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6090">
                  <a:extLst>
                    <a:ext uri="{9D8B030D-6E8A-4147-A177-3AD203B41FA5}">
                      <a16:colId xmlns:a16="http://schemas.microsoft.com/office/drawing/2014/main" val="228521753"/>
                    </a:ext>
                  </a:extLst>
                </a:gridCol>
                <a:gridCol w="926090">
                  <a:extLst>
                    <a:ext uri="{9D8B030D-6E8A-4147-A177-3AD203B41FA5}">
                      <a16:colId xmlns:a16="http://schemas.microsoft.com/office/drawing/2014/main" val="1710315505"/>
                    </a:ext>
                  </a:extLst>
                </a:gridCol>
                <a:gridCol w="926090">
                  <a:extLst>
                    <a:ext uri="{9D8B030D-6E8A-4147-A177-3AD203B41FA5}">
                      <a16:colId xmlns:a16="http://schemas.microsoft.com/office/drawing/2014/main" val="2246195264"/>
                    </a:ext>
                  </a:extLst>
                </a:gridCol>
                <a:gridCol w="926090">
                  <a:extLst>
                    <a:ext uri="{9D8B030D-6E8A-4147-A177-3AD203B41FA5}">
                      <a16:colId xmlns:a16="http://schemas.microsoft.com/office/drawing/2014/main" val="2524803216"/>
                    </a:ext>
                  </a:extLst>
                </a:gridCol>
              </a:tblGrid>
              <a:tr h="2985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Node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EF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Slack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Status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1701865"/>
                  </a:ext>
                </a:extLst>
              </a:tr>
              <a:tr h="2985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45.0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Critical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2385062"/>
                  </a:ext>
                </a:extLst>
              </a:tr>
              <a:tr h="2985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33.0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Critical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7776636"/>
                  </a:ext>
                </a:extLst>
              </a:tr>
              <a:tr h="2985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21.0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Critical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422530"/>
                  </a:ext>
                </a:extLst>
              </a:tr>
              <a:tr h="2985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9.0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Critical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166745"/>
                  </a:ext>
                </a:extLst>
              </a:tr>
              <a:tr h="2985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43.5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1.5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Near-critical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5473786"/>
                  </a:ext>
                </a:extLst>
              </a:tr>
              <a:tr h="2985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19.5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Near-critical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84906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2251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B0DD8-F259-4C14-A43C-58CA15B3F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CC491-1A26-2EB2-A7C3-48DBC4DA0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4509" y="124432"/>
            <a:ext cx="10573801" cy="763500"/>
          </a:xfrm>
        </p:spPr>
        <p:txBody>
          <a:bodyPr/>
          <a:lstStyle/>
          <a:p>
            <a:pPr algn="r"/>
            <a:r>
              <a:rPr lang="en-GB" dirty="0"/>
              <a:t>Critical Path: </a:t>
            </a:r>
            <a:r>
              <a:rPr lang="en-GB" sz="4000" b="1" dirty="0"/>
              <a:t>Case Study</a:t>
            </a:r>
            <a:endParaRPr lang="en-GB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16A779-852B-C411-69B0-87A18DE7B0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10</a:t>
            </a:fld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6C803A-A761-8B2E-6F79-AABAB799BC66}"/>
              </a:ext>
            </a:extLst>
          </p:cNvPr>
          <p:cNvSpPr txBox="1"/>
          <p:nvPr/>
        </p:nvSpPr>
        <p:spPr>
          <a:xfrm>
            <a:off x="1110470" y="963461"/>
            <a:ext cx="11450664" cy="1239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318">
              <a:lnSpc>
                <a:spcPct val="110000"/>
              </a:lnSpc>
              <a:spcBef>
                <a:spcPts val="1000"/>
              </a:spcBef>
              <a:buClr>
                <a:srgbClr val="0177AD"/>
              </a:buClr>
            </a:pPr>
            <a:r>
              <a:rPr lang="en-GB" b="1" dirty="0"/>
              <a:t>Scenario 2: What is the Total accumulated load ?</a:t>
            </a:r>
          </a:p>
          <a:p>
            <a:pPr marL="285750" indent="-285750" defTabSz="914318">
              <a:lnSpc>
                <a:spcPct val="110000"/>
              </a:lnSpc>
              <a:spcBef>
                <a:spcPts val="1000"/>
              </a:spcBef>
              <a:buClr>
                <a:srgbClr val="0177AD"/>
              </a:buClr>
              <a:buFont typeface="Arial" panose="020B0604020202020204" pitchFamily="34" charset="0"/>
              <a:buChar char="•"/>
            </a:pPr>
            <a:r>
              <a:rPr lang="en-GB" dirty="0"/>
              <a:t>⊕ Combinator: sum </a:t>
            </a:r>
          </a:p>
          <a:p>
            <a:pPr marL="285750" indent="-285750" defTabSz="914318">
              <a:lnSpc>
                <a:spcPct val="110000"/>
              </a:lnSpc>
              <a:spcBef>
                <a:spcPts val="1000"/>
              </a:spcBef>
              <a:buClr>
                <a:srgbClr val="0177AD"/>
              </a:buClr>
              <a:buFont typeface="Arial" panose="020B0604020202020204" pitchFamily="34" charset="0"/>
              <a:buChar char="•"/>
            </a:pPr>
            <a:r>
              <a:rPr lang="en-GB" dirty="0"/>
              <a:t>⊗ Propagator: additive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B0C10A-6AB8-89EC-C041-45EBD961E4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6011" y="1775011"/>
            <a:ext cx="6152299" cy="3959763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3E952DF-031A-3710-EA83-55F62C6AF3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3201693"/>
              </p:ext>
            </p:extLst>
          </p:nvPr>
        </p:nvGraphicFramePr>
        <p:xfrm>
          <a:off x="1310034" y="2362200"/>
          <a:ext cx="3704360" cy="3322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6090">
                  <a:extLst>
                    <a:ext uri="{9D8B030D-6E8A-4147-A177-3AD203B41FA5}">
                      <a16:colId xmlns:a16="http://schemas.microsoft.com/office/drawing/2014/main" val="3252663177"/>
                    </a:ext>
                  </a:extLst>
                </a:gridCol>
                <a:gridCol w="926090">
                  <a:extLst>
                    <a:ext uri="{9D8B030D-6E8A-4147-A177-3AD203B41FA5}">
                      <a16:colId xmlns:a16="http://schemas.microsoft.com/office/drawing/2014/main" val="2487908814"/>
                    </a:ext>
                  </a:extLst>
                </a:gridCol>
                <a:gridCol w="926090">
                  <a:extLst>
                    <a:ext uri="{9D8B030D-6E8A-4147-A177-3AD203B41FA5}">
                      <a16:colId xmlns:a16="http://schemas.microsoft.com/office/drawing/2014/main" val="3531924444"/>
                    </a:ext>
                  </a:extLst>
                </a:gridCol>
                <a:gridCol w="926090">
                  <a:extLst>
                    <a:ext uri="{9D8B030D-6E8A-4147-A177-3AD203B41FA5}">
                      <a16:colId xmlns:a16="http://schemas.microsoft.com/office/drawing/2014/main" val="717120804"/>
                    </a:ext>
                  </a:extLst>
                </a:gridCol>
              </a:tblGrid>
              <a:tr h="2985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Node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EF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Slack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Status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7315355"/>
                  </a:ext>
                </a:extLst>
              </a:tr>
              <a:tr h="2985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480.0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Critical (max load)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7022344"/>
                  </a:ext>
                </a:extLst>
              </a:tr>
              <a:tr h="2985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431.5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48.5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High load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6764104"/>
                  </a:ext>
                </a:extLst>
              </a:tr>
              <a:tr h="2985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415.0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65.0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High load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9782956"/>
                  </a:ext>
                </a:extLst>
              </a:tr>
              <a:tr h="2985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410.5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69.5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High load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8675772"/>
                  </a:ext>
                </a:extLst>
              </a:tr>
              <a:tr h="2985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164.0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304.0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Mid-tier convergence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0312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09194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597F0-663E-5BED-CCFA-29959B267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FBC2B-AECB-A77D-5DBE-175DF8FF8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4509" y="124432"/>
            <a:ext cx="10573801" cy="763500"/>
          </a:xfrm>
        </p:spPr>
        <p:txBody>
          <a:bodyPr/>
          <a:lstStyle/>
          <a:p>
            <a:pPr algn="r"/>
            <a:r>
              <a:rPr lang="en-GB" dirty="0"/>
              <a:t>Critical Path: </a:t>
            </a:r>
            <a:r>
              <a:rPr lang="en-GB" sz="4000" b="1" dirty="0"/>
              <a:t>Case Study</a:t>
            </a:r>
            <a:endParaRPr lang="en-GB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513EA1-AF9C-38F4-DE31-FE06B656D1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11</a:t>
            </a:fld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53CE9E-8A8B-EF27-4F91-A657CBD4AA41}"/>
              </a:ext>
            </a:extLst>
          </p:cNvPr>
          <p:cNvSpPr txBox="1"/>
          <p:nvPr/>
        </p:nvSpPr>
        <p:spPr>
          <a:xfrm>
            <a:off x="1089828" y="977228"/>
            <a:ext cx="11450664" cy="373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318">
              <a:lnSpc>
                <a:spcPct val="110000"/>
              </a:lnSpc>
              <a:spcBef>
                <a:spcPts val="1000"/>
              </a:spcBef>
              <a:buClr>
                <a:srgbClr val="0177AD"/>
              </a:buClr>
            </a:pPr>
            <a:r>
              <a:rPr lang="en-GB" b="1" dirty="0"/>
              <a:t>Scenario Comparison: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2A177A-6225-E77C-9A29-DCCF9D6A392E}"/>
              </a:ext>
            </a:extLst>
          </p:cNvPr>
          <p:cNvSpPr txBox="1"/>
          <p:nvPr/>
        </p:nvSpPr>
        <p:spPr>
          <a:xfrm>
            <a:off x="1192822" y="1439961"/>
            <a:ext cx="6565339" cy="5356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defTabSz="914318">
              <a:lnSpc>
                <a:spcPct val="90000"/>
              </a:lnSpc>
              <a:spcBef>
                <a:spcPts val="1000"/>
              </a:spcBef>
              <a:buClr>
                <a:srgbClr val="0177AD"/>
              </a:buClr>
              <a:buFont typeface="Arial" panose="020B0604020202020204" pitchFamily="34" charset="0"/>
              <a:buChar char="•"/>
            </a:pPr>
            <a:r>
              <a:rPr lang="en-GB" dirty="0"/>
              <a:t>Node 27 is critical under both configurations, but for different reasons.</a:t>
            </a:r>
          </a:p>
          <a:p>
            <a:pPr marL="914365" lvl="2" indent="-457200" defTabSz="914318">
              <a:lnSpc>
                <a:spcPct val="90000"/>
              </a:lnSpc>
              <a:spcBef>
                <a:spcPts val="1000"/>
              </a:spcBef>
              <a:buClr>
                <a:srgbClr val="0177AD"/>
              </a:buClr>
              <a:buFont typeface="Courier New" panose="02070309020205020404" pitchFamily="49" charset="0"/>
              <a:buChar char="o"/>
            </a:pPr>
            <a:r>
              <a:rPr lang="en-GB" dirty="0"/>
              <a:t>Under max-combination it's the endpoint of the single longest chain (3→11→19→27);</a:t>
            </a:r>
          </a:p>
          <a:p>
            <a:pPr marL="914365" lvl="2" indent="-457200" defTabSz="914318">
              <a:lnSpc>
                <a:spcPct val="90000"/>
              </a:lnSpc>
              <a:spcBef>
                <a:spcPts val="1000"/>
              </a:spcBef>
              <a:buClr>
                <a:srgbClr val="0177AD"/>
              </a:buClr>
              <a:buFont typeface="Courier New" panose="02070309020205020404" pitchFamily="49" charset="0"/>
              <a:buChar char="o"/>
            </a:pPr>
            <a:r>
              <a:rPr lang="en-GB" dirty="0"/>
              <a:t>Under sum-combination, six independent paths converge at Node 27 </a:t>
            </a:r>
          </a:p>
          <a:p>
            <a:pPr marL="457165" lvl="2" defTabSz="914318">
              <a:lnSpc>
                <a:spcPct val="90000"/>
              </a:lnSpc>
              <a:spcBef>
                <a:spcPts val="1000"/>
              </a:spcBef>
              <a:buClr>
                <a:srgbClr val="0177AD"/>
              </a:buClr>
            </a:pPr>
            <a:endParaRPr lang="en-GB" dirty="0"/>
          </a:p>
          <a:p>
            <a:pPr marL="457200" indent="-457200" defTabSz="914318">
              <a:lnSpc>
                <a:spcPct val="90000"/>
              </a:lnSpc>
              <a:spcBef>
                <a:spcPts val="1000"/>
              </a:spcBef>
              <a:buClr>
                <a:srgbClr val="0177AD"/>
              </a:buClr>
              <a:buFont typeface="Arial" panose="020B0604020202020204" pitchFamily="34" charset="0"/>
              <a:buChar char="•"/>
            </a:pPr>
            <a:r>
              <a:rPr lang="en-GB" dirty="0"/>
              <a:t>Node 19 jumps from 33 to 164 units since sum-combination credits it with every incoming contribution rather than just the single largest one.</a:t>
            </a:r>
          </a:p>
          <a:p>
            <a:pPr marL="457200" indent="-457200" defTabSz="914318">
              <a:lnSpc>
                <a:spcPct val="90000"/>
              </a:lnSpc>
              <a:spcBef>
                <a:spcPts val="1000"/>
              </a:spcBef>
              <a:buClr>
                <a:srgbClr val="0177AD"/>
              </a:buClr>
              <a:buFont typeface="Arial" panose="020B0604020202020204" pitchFamily="34" charset="0"/>
              <a:buChar char="•"/>
            </a:pPr>
            <a:endParaRPr lang="en-GB" dirty="0"/>
          </a:p>
          <a:p>
            <a:pPr marL="457200" indent="-457200" defTabSz="914318">
              <a:lnSpc>
                <a:spcPct val="90000"/>
              </a:lnSpc>
              <a:spcBef>
                <a:spcPts val="1000"/>
              </a:spcBef>
              <a:buClr>
                <a:srgbClr val="0177AD"/>
              </a:buClr>
              <a:buFont typeface="Arial" panose="020B0604020202020204" pitchFamily="34" charset="0"/>
              <a:buChar char="•"/>
            </a:pPr>
            <a:r>
              <a:rPr lang="en-GB" dirty="0"/>
              <a:t>Node 30 is structurally important in both scenarios: near-critical under max/additive (slack 1.5), 2nd-highest load under sum/additive (431.5)</a:t>
            </a:r>
          </a:p>
          <a:p>
            <a:pPr marL="457200" indent="-457200" defTabSz="914318">
              <a:lnSpc>
                <a:spcPct val="90000"/>
              </a:lnSpc>
              <a:spcBef>
                <a:spcPts val="1000"/>
              </a:spcBef>
              <a:buClr>
                <a:srgbClr val="0177AD"/>
              </a:buClr>
              <a:buFont typeface="Arial" panose="020B0604020202020204" pitchFamily="34" charset="0"/>
              <a:buChar char="•"/>
            </a:pPr>
            <a:endParaRPr lang="en-GB" dirty="0"/>
          </a:p>
          <a:p>
            <a:pPr marL="457200" indent="-457200" defTabSz="914318">
              <a:lnSpc>
                <a:spcPct val="90000"/>
              </a:lnSpc>
              <a:spcBef>
                <a:spcPts val="1000"/>
              </a:spcBef>
              <a:buClr>
                <a:srgbClr val="0177AD"/>
              </a:buClr>
              <a:buFont typeface="Arial" panose="020B0604020202020204" pitchFamily="34" charset="0"/>
              <a:buChar char="•"/>
            </a:pPr>
            <a:r>
              <a:rPr lang="en-GB" dirty="0"/>
              <a:t>Runtime is effectively identical either way (78.3μs vs 78.7μs)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6EAD2C-1F68-0E44-DBD9-EF5F098A30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6307" y="4180544"/>
            <a:ext cx="2824194" cy="18177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6881B71-8495-86BE-535E-282CADB337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1895" y="1167521"/>
            <a:ext cx="2824194" cy="181771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008310E-24A4-5C18-7C52-FEBDFFC2141D}"/>
              </a:ext>
            </a:extLst>
          </p:cNvPr>
          <p:cNvSpPr txBox="1"/>
          <p:nvPr/>
        </p:nvSpPr>
        <p:spPr>
          <a:xfrm>
            <a:off x="8530181" y="3021642"/>
            <a:ext cx="36259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i="1" dirty="0"/>
              <a:t>Water Network: Longest accumulating path</a:t>
            </a:r>
            <a:r>
              <a:rPr lang="en-GB" sz="1400" i="1" baseline="30000" dirty="0"/>
              <a:t> </a:t>
            </a:r>
            <a:endParaRPr lang="en-GB" sz="1400" i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DAB457-CEC2-23C9-8D89-6B0128D9D20E}"/>
              </a:ext>
            </a:extLst>
          </p:cNvPr>
          <p:cNvSpPr txBox="1"/>
          <p:nvPr/>
        </p:nvSpPr>
        <p:spPr>
          <a:xfrm>
            <a:off x="8530181" y="6117710"/>
            <a:ext cx="36259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i="1" dirty="0"/>
              <a:t>Water Network: Highest point of accumulated load</a:t>
            </a:r>
          </a:p>
        </p:txBody>
      </p:sp>
    </p:spTree>
    <p:extLst>
      <p:ext uri="{BB962C8B-B14F-4D97-AF65-F5344CB8AC3E}">
        <p14:creationId xmlns:p14="http://schemas.microsoft.com/office/powerpoint/2010/main" val="33629277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3862A-F12A-5A1B-2B8D-711F6166F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28BAC-A3E1-594C-90A0-673B56AAA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4509" y="124432"/>
            <a:ext cx="10573801" cy="763500"/>
          </a:xfrm>
        </p:spPr>
        <p:txBody>
          <a:bodyPr/>
          <a:lstStyle/>
          <a:p>
            <a:pPr algn="r"/>
            <a:r>
              <a:rPr lang="en-GB" dirty="0"/>
              <a:t>Algorithm family 2: Flow Capacity</a:t>
            </a:r>
            <a:endParaRPr lang="en-GB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7E1025-418A-CAB2-AD2A-8C98912C60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12</a:t>
            </a:fld>
            <a:endParaRPr lang="en-GB"/>
          </a:p>
        </p:txBody>
      </p:sp>
      <p:sp>
        <p:nvSpPr>
          <p:cNvPr id="18" name="Content Placeholder 4">
            <a:extLst>
              <a:ext uri="{FF2B5EF4-FFF2-40B4-BE49-F238E27FC236}">
                <a16:creationId xmlns:a16="http://schemas.microsoft.com/office/drawing/2014/main" id="{8D97E755-A299-5409-BAA5-69094D2D3AFD}"/>
              </a:ext>
            </a:extLst>
          </p:cNvPr>
          <p:cNvSpPr txBox="1">
            <a:spLocks/>
          </p:cNvSpPr>
          <p:nvPr/>
        </p:nvSpPr>
        <p:spPr>
          <a:xfrm>
            <a:off x="1223298" y="2607408"/>
            <a:ext cx="6161510" cy="28853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0" indent="0" algn="l" defTabSz="914318" rtl="0" eaLnBrk="1" latinLnBrk="0" hangingPunct="1">
              <a:lnSpc>
                <a:spcPct val="120000"/>
              </a:lnSpc>
              <a:spcBef>
                <a:spcPts val="1000"/>
              </a:spcBef>
              <a:buClr>
                <a:srgbClr val="0177AD"/>
              </a:buClr>
              <a:buFont typeface="Wingdings" pitchFamily="2" charset="2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Clr>
                <a:srgbClr val="0177AD"/>
              </a:buClr>
              <a:buFont typeface="Wingdings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Clr>
                <a:srgbClr val="0177AD"/>
              </a:buClr>
              <a:buFont typeface="Wingdings" pitchFamily="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Clr>
                <a:srgbClr val="0177AD"/>
              </a:buClr>
              <a:buFont typeface="Wingdings" pitchFamily="2" charset="2"/>
              <a:buNone/>
              <a:defRPr sz="10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Clr>
                <a:srgbClr val="0177AD"/>
              </a:buClr>
              <a:buFont typeface="Wingdings" pitchFamily="2" charset="2"/>
              <a:buNone/>
              <a:defRPr sz="1000" kern="1200" baseline="0">
                <a:solidFill>
                  <a:schemeClr val="tx1">
                    <a:alpha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374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34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692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50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30"/>
            <a:endParaRPr lang="en-GB" sz="18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ED170A-67E0-056D-9011-36222C655E3E}"/>
              </a:ext>
            </a:extLst>
          </p:cNvPr>
          <p:cNvSpPr txBox="1"/>
          <p:nvPr/>
        </p:nvSpPr>
        <p:spPr>
          <a:xfrm>
            <a:off x="1028305" y="1095762"/>
            <a:ext cx="109042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Analysis Perspective: </a:t>
            </a:r>
            <a:r>
              <a:rPr lang="en-GB" dirty="0"/>
              <a:t>Capacity-constrained flow between source and sink nodes and how much throughput can be delivered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FEE681DC-0BE7-30EE-8F8D-1A7B2DFBBE00}"/>
              </a:ext>
            </a:extLst>
          </p:cNvPr>
          <p:cNvSpPr txBox="1">
            <a:spLocks/>
          </p:cNvSpPr>
          <p:nvPr/>
        </p:nvSpPr>
        <p:spPr>
          <a:xfrm>
            <a:off x="1223298" y="4249601"/>
            <a:ext cx="10868889" cy="230511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0" indent="0" algn="l" defTabSz="914318" rtl="0" eaLnBrk="1" latinLnBrk="0" hangingPunct="1">
              <a:lnSpc>
                <a:spcPct val="120000"/>
              </a:lnSpc>
              <a:spcBef>
                <a:spcPts val="1000"/>
              </a:spcBef>
              <a:buClr>
                <a:srgbClr val="0177AD"/>
              </a:buClr>
              <a:buFont typeface="Wingdings" pitchFamily="2" charset="2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Clr>
                <a:srgbClr val="0177AD"/>
              </a:buClr>
              <a:buFont typeface="Wingdings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Clr>
                <a:srgbClr val="0177AD"/>
              </a:buClr>
              <a:buFont typeface="Wingdings" pitchFamily="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Clr>
                <a:srgbClr val="0177AD"/>
              </a:buClr>
              <a:buFont typeface="Wingdings" pitchFamily="2" charset="2"/>
              <a:buNone/>
              <a:defRPr sz="10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Clr>
                <a:srgbClr val="0177AD"/>
              </a:buClr>
              <a:buFont typeface="Wingdings" pitchFamily="2" charset="2"/>
              <a:buNone/>
              <a:defRPr sz="1000" kern="1200" baseline="0">
                <a:solidFill>
                  <a:schemeClr val="tx1">
                    <a:alpha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374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34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692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50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30"/>
            <a:r>
              <a:rPr lang="en-GB" sz="1800" dirty="0"/>
              <a:t>Given the shared network model, this module answers: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800" dirty="0"/>
              <a:t>How much throughput can the network sustain under current capacities?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800" dirty="0"/>
              <a:t>Where is the bottleneck, and is it tightly localised or distributed across many equivalent cuts?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800" dirty="0"/>
              <a:t>Which components most constrain delivery, and by how much?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800" dirty="0"/>
              <a:t>How much capacity margin exists before a target demand level is breached?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71CD87-0A6C-DECA-BCDA-4C6AC82181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3140" y="2002917"/>
            <a:ext cx="8452010" cy="1903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1606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509" y="124432"/>
            <a:ext cx="10573801" cy="763500"/>
          </a:xfrm>
        </p:spPr>
        <p:txBody>
          <a:bodyPr/>
          <a:lstStyle/>
          <a:p>
            <a:pPr algn="r"/>
            <a:r>
              <a:rPr lang="en-GB" dirty="0"/>
              <a:t>Algorithm family 2: Flow Capacity</a:t>
            </a:r>
            <a:endParaRPr lang="en-GB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13</a:t>
            </a:fld>
            <a:endParaRPr lang="en-GB"/>
          </a:p>
        </p:txBody>
      </p:sp>
      <p:sp>
        <p:nvSpPr>
          <p:cNvPr id="106" name="TextBox 106"/>
          <p:cNvSpPr txBox="1"/>
          <p:nvPr/>
        </p:nvSpPr>
        <p:spPr>
          <a:xfrm>
            <a:off x="1006156" y="1334494"/>
            <a:ext cx="104539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Motivating question:</a:t>
            </a:r>
            <a:r>
              <a:rPr lang="en-GB" i="1" dirty="0"/>
              <a:t> How much throughput can flow from s to t under the active edge capacities?</a:t>
            </a:r>
          </a:p>
        </p:txBody>
      </p:sp>
      <p:sp>
        <p:nvSpPr>
          <p:cNvPr id="107" name="Content Placeholder 107"/>
          <p:cNvSpPr txBox="1">
            <a:spLocks/>
          </p:cNvSpPr>
          <p:nvPr/>
        </p:nvSpPr>
        <p:spPr>
          <a:xfrm>
            <a:off x="1124064" y="1799650"/>
            <a:ext cx="10301190" cy="89292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marL="0" indent="0">
              <a:buNone/>
            </a:pPr>
            <a:r>
              <a:rPr lang="en-GB" dirty="0"/>
              <a:t>This module computes maximum possible flow delivered from source to sink nodes, without exceeding any edge's capacity or breaking flow balance at intermediate nodes.</a:t>
            </a:r>
          </a:p>
        </p:txBody>
      </p:sp>
      <p:sp>
        <p:nvSpPr>
          <p:cNvPr id="109" name="Content Placeholder 109"/>
          <p:cNvSpPr txBox="1">
            <a:spLocks/>
          </p:cNvSpPr>
          <p:nvPr/>
        </p:nvSpPr>
        <p:spPr>
          <a:xfrm>
            <a:off x="1089260" y="4970021"/>
            <a:ext cx="9782292" cy="700000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/>
          <a:p>
            <a:pPr marL="285750" indent="-285750" defTabSz="914318">
              <a:lnSpc>
                <a:spcPct val="120000"/>
              </a:lnSpc>
              <a:spcBef>
                <a:spcPts val="1000"/>
              </a:spcBef>
              <a:buClr>
                <a:srgbClr val="0177AD"/>
              </a:buClr>
              <a:buFont typeface="Arial" panose="020B0604020202020204" pitchFamily="34" charset="0"/>
              <a:buChar char="•"/>
            </a:pPr>
            <a:r>
              <a:rPr lang="en-GB" dirty="0"/>
              <a:t>If sink t requires demand level Dt, then </a:t>
            </a:r>
            <a:r>
              <a:rPr lang="en-GB" dirty="0" err="1"/>
              <a:t>Δt</a:t>
            </a:r>
            <a:r>
              <a:rPr lang="en-GB" dirty="0"/>
              <a:t> = F⋆ − Dt  (i.e. </a:t>
            </a:r>
            <a:r>
              <a:rPr lang="en-GB" dirty="0" err="1"/>
              <a:t>Δt</a:t>
            </a:r>
            <a:r>
              <a:rPr lang="en-GB" dirty="0"/>
              <a:t> ≥ 0 → demand met with margin; Δt &lt; 0 → shortfall)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E40EA44-0D36-7D94-0A71-0D5EE0E38331}"/>
                  </a:ext>
                </a:extLst>
              </p:cNvPr>
              <p:cNvSpPr txBox="1"/>
              <p:nvPr/>
            </p:nvSpPr>
            <p:spPr>
              <a:xfrm>
                <a:off x="1930663" y="2741526"/>
                <a:ext cx="7815153" cy="15311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i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 </m:t>
                              </m:r>
                            </m:e>
                          </m:func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e>
                          <m:r>
                            <m:rPr>
                              <m:nor/>
                            </m:rPr>
                            <a:rPr lang="en-GB" i="0"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m:rPr>
                              <m:nor/>
                            </m:rPr>
                            <a:rPr lang="en-GB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GB" i="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m:rPr>
                              <m:nor/>
                            </m:rPr>
                            <a:rPr lang="en-GB" i="0">
                              <a:latin typeface="Cambria Math" panose="02040503050406030204" pitchFamily="18" charset="0"/>
                            </a:rPr>
                            <m:t>. 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&amp;0≤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𝑢𝑣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𝑢𝑣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,&amp;∀</m:t>
                          </m:r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&amp;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</m:e>
                          </m:nary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 − 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</m:e>
                          </m:nary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 = 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,&amp;∀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eqArr>
                      <m:r>
                        <a:rPr lang="en-GB" i="1">
                          <a:latin typeface="Cambria Math" panose="02040503050406030204" pitchFamily="18" charset="0"/>
                        </a:rPr>
                        <m:t>  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  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  0</m:t>
                                </m:r>
                              </m:e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∖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E40EA44-0D36-7D94-0A71-0D5EE0E383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0663" y="2741526"/>
                <a:ext cx="7815153" cy="153118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509" y="124432"/>
            <a:ext cx="10573801" cy="763500"/>
          </a:xfrm>
        </p:spPr>
        <p:txBody>
          <a:bodyPr/>
          <a:lstStyle/>
          <a:p>
            <a:pPr algn="r"/>
            <a:r>
              <a:rPr lang="en-GB" dirty="0"/>
              <a:t>Algorithm family 2: Flow Capacity</a:t>
            </a:r>
            <a:endParaRPr lang="en-GB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14</a:t>
            </a:fld>
            <a:endParaRPr lang="en-GB"/>
          </a:p>
        </p:txBody>
      </p:sp>
      <p:sp>
        <p:nvSpPr>
          <p:cNvPr id="115" name="Content Placeholder 115"/>
          <p:cNvSpPr txBox="1">
            <a:spLocks/>
          </p:cNvSpPr>
          <p:nvPr/>
        </p:nvSpPr>
        <p:spPr>
          <a:xfrm>
            <a:off x="1148603" y="1282759"/>
            <a:ext cx="10904246" cy="1700000"/>
          </a:xfrm>
          <a:prstGeom prst="rect">
            <a:avLst/>
          </a:prstGeom>
        </p:spPr>
        <p:txBody>
          <a:bodyPr vert="horz" lIns="0" tIns="45720" rIns="0" bIns="45720" rtlCol="0">
            <a:normAutofit fontScale="85000" lnSpcReduction="10000"/>
          </a:bodyPr>
          <a:lstStyle/>
          <a:p>
            <a:pPr marL="285750" indent="-285750" defTabSz="914318">
              <a:lnSpc>
                <a:spcPct val="120000"/>
              </a:lnSpc>
              <a:spcBef>
                <a:spcPts val="1000"/>
              </a:spcBef>
              <a:buClr>
                <a:srgbClr val="0177AD"/>
              </a:buClr>
              <a:buFont typeface="Arial" panose="020B0604020202020204" pitchFamily="34" charset="0"/>
              <a:buChar char="•"/>
            </a:pPr>
            <a:r>
              <a:rPr lang="en-GB" b="1" dirty="0"/>
              <a:t>Multi-source/sink DAGs </a:t>
            </a:r>
            <a:r>
              <a:rPr lang="en-GB" dirty="0"/>
              <a:t>resolved to single source/sink via super-terminals s⋆, t⋆ with non-binding (∞) connector capacities; feasible-flow spaces map 1:1</a:t>
            </a:r>
          </a:p>
          <a:p>
            <a:pPr marL="285750" indent="-285750" defTabSz="914318">
              <a:lnSpc>
                <a:spcPct val="120000"/>
              </a:lnSpc>
              <a:spcBef>
                <a:spcPts val="1000"/>
              </a:spcBef>
              <a:buClr>
                <a:srgbClr val="0177AD"/>
              </a:buClr>
              <a:buFont typeface="Arial" panose="020B0604020202020204" pitchFamily="34" charset="0"/>
              <a:buChar char="•"/>
            </a:pPr>
            <a:r>
              <a:rPr lang="en-GB" b="1" dirty="0"/>
              <a:t>Node capacitated DAGs </a:t>
            </a:r>
            <a:r>
              <a:rPr lang="en-GB" dirty="0"/>
              <a:t>resolved into edge-only capacity via node splitting: replace v with v⁻/v⁺ joined by an edge of capacity bv; incoming edges redirect to v⁻, outgoing edges originate from v⁺</a:t>
            </a:r>
          </a:p>
          <a:p>
            <a:pPr marL="285750" indent="-285750" defTabSz="914318">
              <a:lnSpc>
                <a:spcPct val="120000"/>
              </a:lnSpc>
              <a:spcBef>
                <a:spcPts val="1000"/>
              </a:spcBef>
              <a:buClr>
                <a:srgbClr val="0177AD"/>
              </a:buClr>
              <a:buFont typeface="Arial" panose="020B0604020202020204" pitchFamily="34" charset="0"/>
              <a:buChar char="•"/>
            </a:pPr>
            <a:r>
              <a:rPr lang="en-GB" dirty="0"/>
              <a:t>Both reductions happen internally to the framework: solver outputs are remapped back to the user’s original network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EAB7B51-0DBC-5D98-2DF7-15599220F4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6670" y="3113797"/>
            <a:ext cx="4395597" cy="342015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B459BCD-1562-747C-A124-DA77B99515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2242" y="3113797"/>
            <a:ext cx="4823626" cy="33870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509" y="124432"/>
            <a:ext cx="10573801" cy="763500"/>
          </a:xfrm>
        </p:spPr>
        <p:txBody>
          <a:bodyPr/>
          <a:lstStyle/>
          <a:p>
            <a:pPr algn="r"/>
            <a:r>
              <a:rPr lang="en-GB" dirty="0"/>
              <a:t>Flow Capacity : Solver Choice</a:t>
            </a:r>
            <a:endParaRPr lang="en-GB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15</a:t>
            </a:fld>
            <a:endParaRPr lang="en-GB"/>
          </a:p>
        </p:txBody>
      </p:sp>
      <p:sp>
        <p:nvSpPr>
          <p:cNvPr id="117" name="Content Placeholder 117"/>
          <p:cNvSpPr txBox="1">
            <a:spLocks/>
          </p:cNvSpPr>
          <p:nvPr/>
        </p:nvSpPr>
        <p:spPr>
          <a:xfrm>
            <a:off x="1090003" y="2249599"/>
            <a:ext cx="5769580" cy="3563864"/>
          </a:xfrm>
          <a:prstGeom prst="rect">
            <a:avLst/>
          </a:prstGeom>
        </p:spPr>
        <p:txBody>
          <a:bodyPr vert="horz" lIns="0" tIns="45720" rIns="0" bIns="45720" rtlCol="0">
            <a:normAutofit fontScale="92500" lnSpcReduction="10000"/>
          </a:bodyPr>
          <a:lstStyle/>
          <a:p>
            <a:pPr marL="285750" indent="-285750" defTabSz="914318">
              <a:lnSpc>
                <a:spcPct val="140000"/>
              </a:lnSpc>
              <a:spcBef>
                <a:spcPts val="1000"/>
              </a:spcBef>
              <a:buClr>
                <a:srgbClr val="0177AD"/>
              </a:buClr>
              <a:buFont typeface="Arial" panose="020B0604020202020204" pitchFamily="34" charset="0"/>
              <a:buChar char="•"/>
            </a:pPr>
            <a:r>
              <a:rPr lang="en-GB" b="1" dirty="0"/>
              <a:t>Edmonds-Karp: </a:t>
            </a:r>
            <a:r>
              <a:rPr lang="en-GB" dirty="0"/>
              <a:t>BFS to finds the shortest augmenting path. One path per augmentation.</a:t>
            </a:r>
          </a:p>
          <a:p>
            <a:pPr marL="285750" indent="-285750" defTabSz="914318">
              <a:lnSpc>
                <a:spcPct val="140000"/>
              </a:lnSpc>
              <a:spcBef>
                <a:spcPts val="1000"/>
              </a:spcBef>
              <a:buClr>
                <a:srgbClr val="0177AD"/>
              </a:buClr>
              <a:buFont typeface="Arial" panose="020B0604020202020204" pitchFamily="34" charset="0"/>
              <a:buChar char="•"/>
            </a:pPr>
            <a:r>
              <a:rPr lang="en-GB" b="1" dirty="0" err="1"/>
              <a:t>Dinic</a:t>
            </a:r>
            <a:r>
              <a:rPr lang="en-GB" b="1" dirty="0"/>
              <a:t> (default):</a:t>
            </a:r>
            <a:r>
              <a:rPr lang="en-GB" dirty="0"/>
              <a:t> BFS to build a level graph, layering nodes by distance from source. DFS to find blocking flow per phase. </a:t>
            </a:r>
          </a:p>
          <a:p>
            <a:pPr marL="285750" indent="-285750" defTabSz="914318">
              <a:lnSpc>
                <a:spcPct val="140000"/>
              </a:lnSpc>
              <a:spcBef>
                <a:spcPts val="1000"/>
              </a:spcBef>
              <a:buClr>
                <a:srgbClr val="0177AD"/>
              </a:buClr>
              <a:buFont typeface="Arial" panose="020B0604020202020204" pitchFamily="34" charset="0"/>
              <a:buChar char="•"/>
            </a:pPr>
            <a:r>
              <a:rPr lang="en-GB" b="1" dirty="0"/>
              <a:t>Push-Relabel: </a:t>
            </a:r>
            <a:r>
              <a:rPr lang="en-GB" dirty="0"/>
              <a:t>Pre-saturates all outgoing edges from the source node. Each node carries an excess and a height label. Nodes push excess to lower-height neighbours; if no valid push exists, the node is relabelled higher. </a:t>
            </a:r>
          </a:p>
        </p:txBody>
      </p:sp>
      <p:graphicFrame>
        <p:nvGraphicFramePr>
          <p:cNvPr id="118" name="Table 1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7557368"/>
              </p:ext>
            </p:extLst>
          </p:nvPr>
        </p:nvGraphicFramePr>
        <p:xfrm>
          <a:off x="7398624" y="2899289"/>
          <a:ext cx="4250000" cy="1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b="1" dirty="0">
                          <a:solidFill>
                            <a:srgbClr val="FFFFFF"/>
                          </a:solidFill>
                        </a:rPr>
                        <a:t>Solver</a:t>
                      </a:r>
                    </a:p>
                  </a:txBody>
                  <a:tcPr marL="45720" marR="45720" marT="22860" marB="22860" anchor="ctr">
                    <a:solidFill>
                      <a:srgbClr val="0176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b="1" dirty="0">
                          <a:solidFill>
                            <a:srgbClr val="FFFFFF"/>
                          </a:solidFill>
                        </a:rPr>
                        <a:t>Best for</a:t>
                      </a:r>
                    </a:p>
                  </a:txBody>
                  <a:tcPr marL="45720" marR="45720" marT="22860" marB="22860" anchor="ctr">
                    <a:solidFill>
                      <a:srgbClr val="0176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dirty="0"/>
                        <a:t>Edmonds–Karp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dirty="0"/>
                        <a:t>small networks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dirty="0"/>
                        <a:t>Dinic (default)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dirty="0"/>
                        <a:t>layered networks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dirty="0"/>
                        <a:t>Push–Relabel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dirty="0"/>
                        <a:t>dense / high fan-out networks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DAC4543-6409-28D7-7C2C-207CD1825F04}"/>
              </a:ext>
            </a:extLst>
          </p:cNvPr>
          <p:cNvSpPr txBox="1"/>
          <p:nvPr/>
        </p:nvSpPr>
        <p:spPr>
          <a:xfrm>
            <a:off x="1026721" y="1044537"/>
            <a:ext cx="10966784" cy="105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318">
              <a:spcBef>
                <a:spcPts val="1000"/>
              </a:spcBef>
              <a:buClr>
                <a:srgbClr val="0177AD"/>
              </a:buClr>
            </a:pPr>
            <a:r>
              <a:rPr lang="en-GB" dirty="0"/>
              <a:t>The framework exposes three solver options.</a:t>
            </a:r>
          </a:p>
          <a:p>
            <a:pPr defTabSz="914318">
              <a:spcBef>
                <a:spcPts val="1000"/>
              </a:spcBef>
              <a:buClr>
                <a:srgbClr val="0177AD"/>
              </a:buClr>
            </a:pPr>
            <a:r>
              <a:rPr lang="en-GB" dirty="0"/>
              <a:t>Each solver returns F⋆ along with the solved edge flows, residual capacities, sink allocations, and a representative minimum-cut partition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509" y="124432"/>
            <a:ext cx="10573801" cy="763500"/>
          </a:xfrm>
        </p:spPr>
        <p:txBody>
          <a:bodyPr/>
          <a:lstStyle/>
          <a:p>
            <a:pPr algn="r"/>
            <a:r>
              <a:rPr lang="en-GB" dirty="0"/>
              <a:t>Flow Capacity : Min-Cut</a:t>
            </a:r>
            <a:endParaRPr lang="en-GB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16</a:t>
            </a:fld>
            <a:endParaRPr lang="en-GB"/>
          </a:p>
        </p:txBody>
      </p:sp>
      <p:sp>
        <p:nvSpPr>
          <p:cNvPr id="120" name="Content Placeholder 120"/>
          <p:cNvSpPr txBox="1">
            <a:spLocks/>
          </p:cNvSpPr>
          <p:nvPr/>
        </p:nvSpPr>
        <p:spPr>
          <a:xfrm>
            <a:off x="1086645" y="1068978"/>
            <a:ext cx="10904246" cy="127304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defTabSz="914318">
              <a:lnSpc>
                <a:spcPct val="120000"/>
              </a:lnSpc>
              <a:spcBef>
                <a:spcPts val="1000"/>
              </a:spcBef>
              <a:buClr>
                <a:srgbClr val="0177AD"/>
              </a:buClr>
            </a:pPr>
            <a:r>
              <a:rPr lang="en-GB" dirty="0"/>
              <a:t>The max-flow result from any solver contains one valid minimum cut, but this is not necessarily the only possible min-cut. The full cut space can be enumerated using the final residual graph's reachability structure.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Content Placeholder 122"/>
              <p:cNvSpPr txBox="1">
                <a:spLocks/>
              </p:cNvSpPr>
              <p:nvPr/>
            </p:nvSpPr>
            <p:spPr>
              <a:xfrm>
                <a:off x="1202300" y="2435810"/>
                <a:ext cx="10904246" cy="1986379"/>
              </a:xfrm>
              <a:prstGeom prst="rect">
                <a:avLst/>
              </a:prstGeom>
            </p:spPr>
            <p:txBody>
              <a:bodyPr vert="horz" lIns="0" tIns="45720" rIns="0" bIns="45720" rtlCol="0">
                <a:normAutofit/>
              </a:bodyPr>
              <a:lstStyle/>
              <a:p>
                <a:pPr marL="285750" indent="-285750" defTabSz="914318">
                  <a:lnSpc>
                    <a:spcPct val="120000"/>
                  </a:lnSpc>
                  <a:spcBef>
                    <a:spcPts val="1000"/>
                  </a:spcBef>
                  <a:buClr>
                    <a:srgbClr val="0177AD"/>
                  </a:buClr>
                  <a:buFont typeface="Arial" panose="020B0604020202020204" pitchFamily="34" charset="0"/>
                  <a:buChar char="•"/>
                </a:pPr>
                <a:r>
                  <a:rPr lang="en-GB" dirty="0"/>
                  <a:t>S★ — nodes reachable from the source in the residual graph: the standard cut side</a:t>
                </a:r>
              </a:p>
              <a:p>
                <a:pPr marL="285750" indent="-285750" defTabSz="914318">
                  <a:lnSpc>
                    <a:spcPct val="120000"/>
                  </a:lnSpc>
                  <a:spcBef>
                    <a:spcPts val="1000"/>
                  </a:spcBef>
                  <a:buClr>
                    <a:srgbClr val="0177AD"/>
                  </a:buClr>
                  <a:buFont typeface="Arial" panose="020B0604020202020204" pitchFamily="34" charset="0"/>
                  <a:buChar char="•"/>
                </a:pPr>
                <a:r>
                  <a:rPr lang="en-GB" dirty="0"/>
                  <a:t>S★★ — extended source partition: all nodes that cannot backward-reach the sink</a:t>
                </a:r>
              </a:p>
              <a:p>
                <a:pPr marL="285750" indent="-285750" defTabSz="914318">
                  <a:lnSpc>
                    <a:spcPct val="120000"/>
                  </a:lnSpc>
                  <a:spcBef>
                    <a:spcPts val="1000"/>
                  </a:spcBef>
                  <a:buClr>
                    <a:srgbClr val="0177AD"/>
                  </a:buClr>
                  <a:buFont typeface="Arial" panose="020B0604020202020204" pitchFamily="34" charset="0"/>
                  <a:buChar char="•"/>
                </a:pPr>
                <a:r>
                  <a:rPr lang="en-GB" dirty="0"/>
                  <a:t>The gap between them, </a:t>
                </a:r>
                <a14:m>
                  <m:oMath xmlns:m="http://schemas.openxmlformats.org/officeDocument/2006/math">
                    <m:r>
                      <a:rPr lang="en-GB">
                        <a:latin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en-GB" dirty="0"/>
                  <a:t> = S★★ \ S★ is the free zone, where nodes can sit on either side without changing the cut's capacity</a:t>
                </a:r>
              </a:p>
              <a:p>
                <a:pPr marL="285750" indent="-285750" defTabSz="914318">
                  <a:lnSpc>
                    <a:spcPct val="120000"/>
                  </a:lnSpc>
                  <a:spcBef>
                    <a:spcPts val="1000"/>
                  </a:spcBef>
                  <a:buClr>
                    <a:srgbClr val="0177AD"/>
                  </a:buClr>
                  <a:buFont typeface="Arial" panose="020B0604020202020204" pitchFamily="34" charset="0"/>
                  <a:buChar char="•"/>
                </a:pPr>
                <a:endParaRPr lang="en-GB" dirty="0"/>
              </a:p>
            </p:txBody>
          </p:sp>
        </mc:Choice>
        <mc:Fallback xmlns="">
          <p:sp>
            <p:nvSpPr>
              <p:cNvPr id="122" name="Content Placeholder 1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2300" y="2435810"/>
                <a:ext cx="10904246" cy="1986379"/>
              </a:xfrm>
              <a:prstGeom prst="rect">
                <a:avLst/>
              </a:prstGeom>
              <a:blipFill>
                <a:blip r:embed="rId2"/>
                <a:stretch>
                  <a:fillRect l="-1174" t="-3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D3965D82-1179-A839-6847-354C42C0301B}"/>
              </a:ext>
            </a:extLst>
          </p:cNvPr>
          <p:cNvSpPr txBox="1"/>
          <p:nvPr/>
        </p:nvSpPr>
        <p:spPr>
          <a:xfrm>
            <a:off x="4824579" y="2951018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2F4FF21-0F1B-1497-1DD0-F2C0A495221A}"/>
                  </a:ext>
                </a:extLst>
              </p:cNvPr>
              <p:cNvSpPr txBox="1"/>
              <p:nvPr/>
            </p:nvSpPr>
            <p:spPr>
              <a:xfrm>
                <a:off x="2584172" y="4462429"/>
                <a:ext cx="7327134" cy="8265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p>
                              <m:sSup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p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⋆⋆</m:t>
                                </m:r>
                              </m:sup>
                            </m:sSup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∖</m:t>
                            </m:r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,  </m:t>
                            </m:r>
                            <m:sSup>
                              <m:sSup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p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⋆</m:t>
                                </m:r>
                              </m:sup>
                            </m:sSup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⊆</m:t>
                            </m:r>
                            <m:sSup>
                              <m:sSup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p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⋆⋆</m:t>
                                </m:r>
                              </m:sup>
                            </m:sSup>
                          </m:e>
                        </m:mr>
                        <m:m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ℱ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p>
                              <m:sSup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p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⋆⋆</m:t>
                                </m:r>
                              </m:sup>
                            </m:sSup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∖</m:t>
                            </m:r>
                            <m:sSup>
                              <m:sSup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p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⋆</m:t>
                                </m:r>
                              </m:sup>
                            </m:sSup>
                          </m:e>
                        </m:mr>
                        <m:mr>
                          <m:e/>
                        </m:mr>
                      </m:m>
                      <m:r>
                        <a:rPr lang="en-GB" i="1">
                          <a:latin typeface="Cambria Math" panose="02040503050406030204" pitchFamily="18" charset="0"/>
                        </a:rPr>
                        <m:t>  </m:t>
                      </m:r>
                      <m:r>
                        <m:rPr>
                          <m:lit/>
                        </m:rPr>
                        <a:rPr lang="en-GB" i="1">
                          <a:latin typeface="Cambria Math" panose="02040503050406030204" pitchFamily="18" charset="0"/>
                        </a:rPr>
                        <m:t>#</m:t>
                      </m:r>
                      <m:r>
                        <m:rPr>
                          <m:nor/>
                        </m:rPr>
                        <a:rPr lang="en-GB" i="0">
                          <a:latin typeface="Cambria Math" panose="02040503050406030204" pitchFamily="18" charset="0"/>
                        </a:rPr>
                        <m:t>cuts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ℱ</m:t>
                                    </m:r>
                                  </m:e>
                                </m:d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=0  </m:t>
                                </m:r>
                                <m:d>
                                  <m:d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GB" i="0">
                                        <a:latin typeface="Cambria Math" panose="02040503050406030204" pitchFamily="18" charset="0"/>
                                      </a:rPr>
                                      <m:t>unique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GB" i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GB" i="0">
                                        <a:latin typeface="Cambria Math" panose="02040503050406030204" pitchFamily="18" charset="0"/>
                                      </a:rPr>
                                      <m:t>min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GB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GB" i="0">
                                        <a:latin typeface="Cambria Math" panose="02040503050406030204" pitchFamily="18" charset="0"/>
                                      </a:rPr>
                                      <m:t>cut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GB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GB" i="1">
                                            <a:latin typeface="Cambria Math" panose="02040503050406030204" pitchFamily="18" charset="0"/>
                                          </a:rPr>
                                          <m:t>ℱ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ℱ</m:t>
                                    </m:r>
                                  </m:e>
                                </m:d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&gt;0  </m:t>
                                </m:r>
                                <m:d>
                                  <m:d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GB" i="0">
                                        <a:latin typeface="Cambria Math" panose="02040503050406030204" pitchFamily="18" charset="0"/>
                                      </a:rPr>
                                      <m:t>distinct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GB" i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GB" i="0">
                                        <a:latin typeface="Cambria Math" panose="02040503050406030204" pitchFamily="18" charset="0"/>
                                      </a:rPr>
                                      <m:t>cuts</m:t>
                                    </m:r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2F4FF21-0F1B-1497-1DD0-F2C0A49522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4172" y="4462429"/>
                <a:ext cx="7327134" cy="8265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122"/>
              <p:cNvSpPr txBox="1">
                <a:spLocks/>
              </p:cNvSpPr>
              <p:nvPr/>
            </p:nvSpPr>
            <p:spPr>
              <a:xfrm>
                <a:off x="1116344" y="5709484"/>
                <a:ext cx="10904246" cy="917754"/>
              </a:xfrm>
              <a:prstGeom prst="rect">
                <a:avLst/>
              </a:prstGeom>
            </p:spPr>
            <p:txBody>
              <a:bodyPr vert="horz" lIns="0" tIns="45720" rIns="0" bIns="45720" rtlCol="0">
                <a:normAutofit/>
              </a:bodyPr>
              <a:lstStyle/>
              <a:p>
                <a:pPr defTabSz="914318">
                  <a:lnSpc>
                    <a:spcPct val="140000"/>
                  </a:lnSpc>
                  <a:spcBef>
                    <a:spcPts val="1000"/>
                  </a:spcBef>
                  <a:buClr>
                    <a:srgbClr val="0177AD"/>
                  </a:buClr>
                </a:pPr>
                <a:r>
                  <a:rPr lang="en-GB" b="1" dirty="0"/>
                  <a:t>Note: </a:t>
                </a:r>
                <a:r>
                  <a:rPr lang="en-GB" dirty="0"/>
                  <a:t>Full enumeration of the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2^|</m:t>
                    </m:r>
                    <m:r>
                      <a:rPr lang="en-GB">
                        <a:latin typeface="Cambria Math" panose="02040503050406030204" pitchFamily="18" charset="0"/>
                      </a:rPr>
                      <m:t>ℱ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| </m:t>
                    </m:r>
                  </m:oMath>
                </a14:m>
                <a:r>
                  <a:rPr lang="en-GB" dirty="0"/>
                  <a:t>equivalent cuts is bounded by a user-configurable limit to avoid combinatorial blow-up in highly symmetric networks.</a:t>
                </a:r>
              </a:p>
            </p:txBody>
          </p:sp>
        </mc:Choice>
        <mc:Fallback xmlns="">
          <p:sp>
            <p:nvSpPr>
              <p:cNvPr id="12" name="Content Placeholder 1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6344" y="5709484"/>
                <a:ext cx="10904246" cy="917754"/>
              </a:xfrm>
              <a:prstGeom prst="rect">
                <a:avLst/>
              </a:prstGeom>
              <a:blipFill>
                <a:blip r:embed="rId4"/>
                <a:stretch>
                  <a:fillRect l="-12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509" y="124432"/>
            <a:ext cx="10573801" cy="763500"/>
          </a:xfrm>
        </p:spPr>
        <p:txBody>
          <a:bodyPr/>
          <a:lstStyle/>
          <a:p>
            <a:pPr algn="r"/>
            <a:r>
              <a:rPr lang="en-GB" dirty="0"/>
              <a:t>Flow Capacity : Flow Sensitivity</a:t>
            </a:r>
            <a:endParaRPr lang="en-GB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17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Content Placeholder 128"/>
              <p:cNvSpPr txBox="1">
                <a:spLocks/>
              </p:cNvSpPr>
              <p:nvPr/>
            </p:nvSpPr>
            <p:spPr>
              <a:xfrm>
                <a:off x="1124064" y="1184533"/>
                <a:ext cx="10904246" cy="3441214"/>
              </a:xfrm>
              <a:prstGeom prst="rect">
                <a:avLst/>
              </a:prstGeom>
            </p:spPr>
            <p:txBody>
              <a:bodyPr vert="horz" lIns="0" tIns="45720" rIns="0" bIns="45720" rtlCol="0">
                <a:noAutofit/>
              </a:bodyPr>
              <a:lstStyle/>
              <a:p>
                <a:pPr defTabSz="914318">
                  <a:lnSpc>
                    <a:spcPct val="130000"/>
                  </a:lnSpc>
                  <a:spcBef>
                    <a:spcPts val="1000"/>
                  </a:spcBef>
                  <a:buClr>
                    <a:srgbClr val="0177AD"/>
                  </a:buClr>
                </a:pPr>
                <a:r>
                  <a:rPr lang="en-GB" dirty="0"/>
                  <a:t>Every edge in a minimum cut is necessarily saturated, with no spare capacity. These saturated edges are the natural candidates for network queries such as:</a:t>
                </a:r>
              </a:p>
              <a:p>
                <a:pPr defTabSz="914318">
                  <a:lnSpc>
                    <a:spcPct val="130000"/>
                  </a:lnSpc>
                  <a:spcBef>
                    <a:spcPts val="1000"/>
                  </a:spcBef>
                  <a:buClr>
                    <a:srgbClr val="0177AD"/>
                  </a:buClr>
                </a:pPr>
                <a:endParaRPr lang="en-GB" dirty="0"/>
              </a:p>
              <a:p>
                <a:pPr marL="285750" indent="-285750" defTabSz="914318">
                  <a:lnSpc>
                    <a:spcPct val="130000"/>
                  </a:lnSpc>
                  <a:spcBef>
                    <a:spcPts val="1000"/>
                  </a:spcBef>
                  <a:buClr>
                    <a:srgbClr val="0177AD"/>
                  </a:buClr>
                  <a:buFont typeface="Arial" panose="020B0604020202020204" pitchFamily="34" charset="0"/>
                  <a:buChar char="•"/>
                </a:pPr>
                <a:r>
                  <a:rPr lang="en-GB" dirty="0"/>
                  <a:t>Loss from removal: how much throughput drops if edge (</a:t>
                </a:r>
                <a:r>
                  <a:rPr lang="en-GB" dirty="0" err="1"/>
                  <a:t>u,v</a:t>
                </a:r>
                <a:r>
                  <a:rPr lang="en-GB" dirty="0"/>
                  <a:t>) fails completely:</a:t>
                </a:r>
              </a:p>
              <a:p>
                <a:pPr defTabSz="914318">
                  <a:lnSpc>
                    <a:spcPct val="130000"/>
                  </a:lnSpc>
                  <a:spcBef>
                    <a:spcPts val="1000"/>
                  </a:spcBef>
                  <a:buClr>
                    <a:srgbClr val="0177AD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a:rPr lang="en-GB">
                              <a:latin typeface="Cambria Math" panose="02040503050406030204" pitchFamily="18" charset="0"/>
                            </a:rPr>
                            <m:t>𝑢𝑣</m:t>
                          </m:r>
                        </m:sub>
                        <m:sup>
                          <m:r>
                            <a:rPr lang="en-GB">
                              <a:latin typeface="Cambria Math" panose="02040503050406030204" pitchFamily="18" charset="0"/>
                            </a:rPr>
                            <m:t>⋆</m:t>
                          </m:r>
                        </m:sup>
                      </m:sSubSup>
                      <m:r>
                        <m:rPr>
                          <m:aln/>
                        </m:rPr>
                        <a:rPr lang="en-GB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GB">
                              <a:latin typeface="Cambria Math" panose="02040503050406030204" pitchFamily="18" charset="0"/>
                            </a:rPr>
                            <m:t>⋆</m:t>
                          </m:r>
                        </m:sup>
                      </m:sSup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GB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GB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GB">
                              <a:latin typeface="Cambria Math" panose="02040503050406030204" pitchFamily="18" charset="0"/>
                            </a:rPr>
                            <m:t>⋆</m:t>
                          </m:r>
                        </m:sup>
                      </m:sSup>
                      <m:r>
                        <a:rPr lang="en-GB">
                          <a:latin typeface="Cambria Math" panose="02040503050406030204" pitchFamily="18" charset="0"/>
                        </a:rPr>
                        <m:t>​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GB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>
                                      <a:latin typeface="Cambria Math" panose="02040503050406030204" pitchFamily="18" charset="0"/>
                                    </a:rPr>
                                    <m:t>𝑢𝑣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</m:oMath>
                  </m:oMathPara>
                </a14:m>
                <a:endParaRPr lang="en-GB" dirty="0"/>
              </a:p>
              <a:p>
                <a:pPr marL="285750" indent="-285750" defTabSz="914318">
                  <a:lnSpc>
                    <a:spcPct val="130000"/>
                  </a:lnSpc>
                  <a:spcBef>
                    <a:spcPts val="1000"/>
                  </a:spcBef>
                  <a:buClr>
                    <a:srgbClr val="0177AD"/>
                  </a:buClr>
                  <a:buFont typeface="Arial" panose="020B0604020202020204" pitchFamily="34" charset="0"/>
                  <a:buChar char="•"/>
                </a:pPr>
                <a:r>
                  <a:rPr lang="en-GB" dirty="0"/>
                  <a:t>Marginal gain: throughput increase per unit of capacity added:</a:t>
                </a:r>
              </a:p>
              <a:p>
                <a:pPr defTabSz="914318">
                  <a:lnSpc>
                    <a:spcPct val="130000"/>
                  </a:lnSpc>
                  <a:spcBef>
                    <a:spcPts val="1000"/>
                  </a:spcBef>
                  <a:buClr>
                    <a:srgbClr val="0177AD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>
                              <a:latin typeface="Cambria Math" panose="02040503050406030204" pitchFamily="18" charset="0"/>
                            </a:rPr>
                            <m:t>𝑢𝑣</m:t>
                          </m:r>
                        </m:sub>
                      </m:sSub>
                      <m:r>
                        <a:rPr lang="en-GB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p>
                              <m:r>
                                <a:rPr lang="en-GB">
                                  <a:latin typeface="Cambria Math" panose="02040503050406030204" pitchFamily="18" charset="0"/>
                                </a:rPr>
                                <m:t>⋆</m:t>
                              </m:r>
                            </m:sup>
                          </m:sSup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r>
                                <a:rPr lang="en-GB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GB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>
                                          <a:latin typeface="Cambria Math" panose="02040503050406030204" pitchFamily="18" charset="0"/>
                                        </a:rPr>
                                        <m:t>𝑢𝑣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</m:d>
                          <m:r>
                            <a:rPr lang="en-GB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p>
                              <m:r>
                                <a:rPr lang="en-GB">
                                  <a:latin typeface="Cambria Math" panose="02040503050406030204" pitchFamily="18" charset="0"/>
                                </a:rPr>
                                <m:t>⋆</m:t>
                              </m:r>
                            </m:sup>
                          </m:sSup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r>
                                <a:rPr lang="en-GB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</m:num>
                        <m:den>
                          <m:r>
                            <a:rPr lang="en-GB">
                              <a:latin typeface="Cambria Math" panose="02040503050406030204" pitchFamily="18" charset="0"/>
                            </a:rPr>
                            <m:t>𝛿</m:t>
                          </m:r>
                        </m:den>
                      </m:f>
                    </m:oMath>
                  </m:oMathPara>
                </a14:m>
                <a:endParaRPr lang="en-GB" dirty="0"/>
              </a:p>
              <a:p>
                <a:pPr marL="285750" indent="-285750" defTabSz="914318">
                  <a:lnSpc>
                    <a:spcPct val="130000"/>
                  </a:lnSpc>
                  <a:spcBef>
                    <a:spcPts val="1000"/>
                  </a:spcBef>
                  <a:buClr>
                    <a:srgbClr val="0177AD"/>
                  </a:buClr>
                  <a:buFont typeface="Arial" panose="020B0604020202020204" pitchFamily="34" charset="0"/>
                  <a:buChar char="•"/>
                </a:pPr>
                <a:r>
                  <a:rPr lang="en-GB" dirty="0"/>
                  <a:t>Total influence range: the full extent of this edge's effect across its capacity range:</a:t>
                </a:r>
              </a:p>
              <a:p>
                <a:pPr defTabSz="914318">
                  <a:lnSpc>
                    <a:spcPct val="130000"/>
                  </a:lnSpc>
                  <a:spcBef>
                    <a:spcPts val="1000"/>
                  </a:spcBef>
                  <a:buClr>
                    <a:srgbClr val="0177AD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>
                              <a:latin typeface="Cambria Math" panose="02040503050406030204" pitchFamily="18" charset="0"/>
                            </a:rPr>
                            <m:t>ℬ</m:t>
                          </m:r>
                        </m:e>
                        <m:sub>
                          <m:r>
                            <a:rPr lang="en-GB">
                              <a:latin typeface="Cambria Math" panose="02040503050406030204" pitchFamily="18" charset="0"/>
                            </a:rPr>
                            <m:t>𝓊𝓋</m:t>
                          </m:r>
                        </m:sub>
                      </m:sSub>
                      <m:r>
                        <a:rPr lang="en-GB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GB">
                              <a:latin typeface="Cambria Math" panose="02040503050406030204" pitchFamily="18" charset="0"/>
                            </a:rPr>
                            <m:t>⋆</m:t>
                          </m:r>
                        </m:sup>
                      </m:sSup>
                      <m:r>
                        <a:rPr lang="en-GB">
                          <a:latin typeface="Cambria Math" panose="02040503050406030204" pitchFamily="18" charset="0"/>
                        </a:rPr>
                        <m:t>​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GB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>
                                      <a:latin typeface="Cambria Math" panose="02040503050406030204" pitchFamily="18" charset="0"/>
                                    </a:rPr>
                                    <m:t>𝑢𝑣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  <m:r>
                        <a:rPr lang="en-GB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GB">
                              <a:latin typeface="Cambria Math" panose="02040503050406030204" pitchFamily="18" charset="0"/>
                            </a:rPr>
                            <m:t>⋆</m:t>
                          </m:r>
                        </m:sup>
                      </m:sSup>
                      <m:r>
                        <a:rPr lang="en-GB">
                          <a:latin typeface="Cambria Math" panose="02040503050406030204" pitchFamily="18" charset="0"/>
                        </a:rPr>
                        <m:t>​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GB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>
                                      <a:latin typeface="Cambria Math" panose="02040503050406030204" pitchFamily="18" charset="0"/>
                                    </a:rPr>
                                    <m:t>𝑢𝑣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</m:oMath>
                  </m:oMathPara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128" name="Content Placeholder 1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064" y="1184533"/>
                <a:ext cx="10904246" cy="3441214"/>
              </a:xfrm>
              <a:prstGeom prst="rect">
                <a:avLst/>
              </a:prstGeom>
              <a:blipFill>
                <a:blip r:embed="rId2"/>
                <a:stretch>
                  <a:fillRect l="-1286" b="-3362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300" y="138889"/>
            <a:ext cx="11171738" cy="763500"/>
          </a:xfrm>
        </p:spPr>
        <p:txBody>
          <a:bodyPr/>
          <a:lstStyle/>
          <a:p>
            <a:pPr algn="r"/>
            <a:r>
              <a:rPr lang="en-GB" dirty="0"/>
              <a:t>Flow Capacity : Parametric Threshold</a:t>
            </a:r>
            <a:endParaRPr lang="en-GB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18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TextBox 135"/>
              <p:cNvSpPr txBox="1"/>
              <p:nvPr/>
            </p:nvSpPr>
            <p:spPr>
              <a:xfrm>
                <a:off x="1087199" y="1064529"/>
                <a:ext cx="10904246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dirty="0"/>
                  <a:t>While the Sensitivity function evaluates how much extra throughput one more unit of capacity buys, the Parametric Threshold asks how much capacity is needed to hit a target service level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𝐃</m:t>
                        </m:r>
                      </m:e>
                      <m:sub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𝐭</m:t>
                        </m:r>
                      </m:sub>
                    </m:sSub>
                  </m:oMath>
                </a14:m>
                <a:r>
                  <a:rPr lang="en-GB" dirty="0"/>
                  <a:t>, and how much could be lost before missing it.</a:t>
                </a:r>
              </a:p>
            </p:txBody>
          </p:sp>
        </mc:Choice>
        <mc:Fallback xmlns="">
          <p:sp>
            <p:nvSpPr>
              <p:cNvPr id="135" name="TextBox 1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7199" y="1064529"/>
                <a:ext cx="10904246" cy="923330"/>
              </a:xfrm>
              <a:prstGeom prst="rect">
                <a:avLst/>
              </a:prstGeom>
              <a:blipFill>
                <a:blip r:embed="rId2"/>
                <a:stretch>
                  <a:fillRect l="-447" t="-3974" b="-993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Content Placeholder 136"/>
              <p:cNvSpPr txBox="1">
                <a:spLocks/>
              </p:cNvSpPr>
              <p:nvPr/>
            </p:nvSpPr>
            <p:spPr>
              <a:xfrm>
                <a:off x="1151701" y="2150000"/>
                <a:ext cx="10904246" cy="1663162"/>
              </a:xfrm>
              <a:prstGeom prst="rect">
                <a:avLst/>
              </a:prstGeom>
            </p:spPr>
            <p:txBody>
              <a:bodyPr vert="horz" lIns="0" tIns="45720" rIns="0" bIns="45720" rtlCol="0">
                <a:noAutofit/>
              </a:bodyPr>
              <a:lstStyle/>
              <a:p>
                <a:pPr marL="285750" indent="-285750" defTabSz="914318">
                  <a:lnSpc>
                    <a:spcPct val="130000"/>
                  </a:lnSpc>
                  <a:spcBef>
                    <a:spcPts val="1000"/>
                  </a:spcBef>
                  <a:buClr>
                    <a:srgbClr val="0177AD"/>
                  </a:buClr>
                  <a:buFont typeface="Arial" panose="020B0604020202020204" pitchFamily="34" charset="0"/>
                  <a:buChar char="•"/>
                </a:pPr>
                <a:r>
                  <a:rPr lang="en-GB" b="1" dirty="0"/>
                  <a:t>If currently meeting target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𝐃</m:t>
                        </m:r>
                      </m:e>
                      <m:sub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𝐭</m:t>
                        </m:r>
                      </m:sub>
                    </m:sSub>
                    <m:r>
                      <a:rPr lang="en-GB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GB" dirty="0"/>
                  <a:t> the degradation threshold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>
                            <a:latin typeface="Cambria Math" panose="02040503050406030204" pitchFamily="18" charset="0"/>
                          </a:rPr>
                          <m:t>𝑢𝑣</m:t>
                        </m:r>
                      </m:sub>
                      <m:sup>
                        <m:r>
                          <a:rPr lang="en-GB">
                            <a:latin typeface="Cambria Math" panose="02040503050406030204" pitchFamily="18" charset="0"/>
                          </a:rPr>
                          <m:t>†</m:t>
                        </m:r>
                      </m:sup>
                    </m:sSubSup>
                  </m:oMath>
                </a14:m>
                <a:r>
                  <a:rPr lang="en-GB" dirty="0"/>
                  <a:t>is the smallest capacity this edge could shrink to before throughput drops below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GB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dirty="0"/>
                  <a:t>. Therefore, the degradation margin measures how much slack remains:</a:t>
                </a:r>
              </a:p>
              <a:p>
                <a:pPr defTabSz="914318">
                  <a:lnSpc>
                    <a:spcPct val="130000"/>
                  </a:lnSpc>
                  <a:spcBef>
                    <a:spcPts val="1000"/>
                  </a:spcBef>
                  <a:buClr>
                    <a:srgbClr val="0177AD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𝑢𝑣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†</m:t>
                          </m:r>
                        </m:sup>
                      </m:sSubSup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i="0">
                              <a:latin typeface="Cambria Math" panose="02040503050406030204" pitchFamily="18" charset="0"/>
                            </a:rPr>
                            <m:t>inf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0,</m:t>
                                  </m:r>
                                  <m:sSub>
                                    <m:sSub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𝑢𝑣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⋆</m:t>
                                  </m:r>
                                </m:sup>
                              </m:s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Sup>
                                    <m:sSubSup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  <m:sup>
                                      <m:d>
                                        <m:d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𝑢𝑣</m:t>
                                          </m:r>
                                        </m:e>
                                      </m:d>
                                    </m:sup>
                                  </m:sSubSup>
                                </m:e>
                              </m:d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,  </m:t>
                      </m:r>
                      <m:r>
                        <m:rPr>
                          <m:nor/>
                        </m:rPr>
                        <a:rPr lang="en-GB" i="0">
                          <a:latin typeface="Cambria Math" panose="02040503050406030204" pitchFamily="18" charset="0"/>
                        </a:rPr>
                        <m:t>margin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𝑢𝑣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𝑢𝑣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†</m:t>
                          </m:r>
                        </m:sup>
                      </m:sSubSup>
                    </m:oMath>
                  </m:oMathPara>
                </a14:m>
                <a:endParaRPr lang="en-GB" dirty="0"/>
              </a:p>
              <a:p>
                <a:pPr marL="285750" indent="-285750" defTabSz="914318">
                  <a:lnSpc>
                    <a:spcPct val="130000"/>
                  </a:lnSpc>
                  <a:spcBef>
                    <a:spcPts val="1000"/>
                  </a:spcBef>
                  <a:buClr>
                    <a:srgbClr val="0177AD"/>
                  </a:buClr>
                  <a:buFont typeface="Arial" panose="020B0604020202020204" pitchFamily="34" charset="0"/>
                  <a:buChar char="•"/>
                </a:pPr>
                <a:r>
                  <a:rPr lang="en-GB" dirty="0"/>
                  <a:t>If currently falling short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𝐃</m:t>
                        </m:r>
                      </m:e>
                      <m:sub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𝐭</m:t>
                        </m:r>
                      </m:sub>
                    </m:sSub>
                    <m:r>
                      <a:rPr lang="en-GB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GB" dirty="0"/>
                  <a:t> ​ the upgrade threshold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𝑢𝑣</m:t>
                        </m:r>
                      </m:sub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‡</m:t>
                        </m:r>
                      </m:sup>
                    </m:sSubSup>
                  </m:oMath>
                </a14:m>
                <a:r>
                  <a:rPr lang="en-GB" dirty="0"/>
                  <a:t> is the minimum capacity this edge would need to first reach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𝐃</m:t>
                        </m:r>
                      </m:e>
                      <m:sub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𝐭</m:t>
                        </m:r>
                      </m:sub>
                    </m:sSub>
                  </m:oMath>
                </a14:m>
                <a:r>
                  <a:rPr lang="en-GB" dirty="0"/>
                  <a:t>. The required increase measures how far it must grow:</a:t>
                </a:r>
              </a:p>
              <a:p>
                <a:pPr defTabSz="914318">
                  <a:lnSpc>
                    <a:spcPct val="130000"/>
                  </a:lnSpc>
                  <a:spcBef>
                    <a:spcPts val="1000"/>
                  </a:spcBef>
                  <a:buClr>
                    <a:srgbClr val="0177AD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𝑢𝑣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‡</m:t>
                          </m:r>
                        </m:sup>
                      </m:sSubSup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i="0">
                              <a:latin typeface="Cambria Math" panose="02040503050406030204" pitchFamily="18" charset="0"/>
                            </a:rPr>
                            <m:t>inf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𝑢𝑣</m:t>
                                  </m:r>
                                </m:sub>
                              </m:s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⋆</m:t>
                                  </m:r>
                                </m:sup>
                              </m:s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Sup>
                                    <m:sSubSup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  <m:sup>
                                      <m:d>
                                        <m:d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𝑢𝑣</m:t>
                                          </m:r>
                                        </m:e>
                                      </m:d>
                                    </m:sup>
                                  </m:sSubSup>
                                </m:e>
                              </m:d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,  </m:t>
                      </m:r>
                      <m:r>
                        <m:rPr>
                          <m:nor/>
                        </m:rPr>
                        <a:rPr lang="en-GB" i="0">
                          <a:latin typeface="Cambria Math" panose="02040503050406030204" pitchFamily="18" charset="0"/>
                        </a:rPr>
                        <m:t>gap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𝑢𝑣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‡</m:t>
                          </m:r>
                        </m:sup>
                      </m:sSubSup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𝑢𝑣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6" name="Content Placeholder 1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1701" y="2150000"/>
                <a:ext cx="10904246" cy="1663162"/>
              </a:xfrm>
              <a:prstGeom prst="rect">
                <a:avLst/>
              </a:prstGeom>
              <a:blipFill>
                <a:blip r:embed="rId3"/>
                <a:stretch>
                  <a:fillRect l="-1230" b="-853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94DEC-0216-E542-C9EB-347D5CFD0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D68CD-6CB3-D9AD-315E-6C1E16501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300" y="138889"/>
            <a:ext cx="11171738" cy="763500"/>
          </a:xfrm>
        </p:spPr>
        <p:txBody>
          <a:bodyPr/>
          <a:lstStyle/>
          <a:p>
            <a:pPr algn="r"/>
            <a:r>
              <a:rPr lang="en-GB" dirty="0"/>
              <a:t>Computational Complexity</a:t>
            </a:r>
            <a:endParaRPr lang="en-GB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085933-0CF4-EC94-1781-232DF3AF483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19</a:t>
            </a:fld>
            <a:endParaRPr lang="en-GB"/>
          </a:p>
        </p:txBody>
      </p:sp>
      <p:graphicFrame>
        <p:nvGraphicFramePr>
          <p:cNvPr id="7" name="Table 102">
            <a:extLst>
              <a:ext uri="{FF2B5EF4-FFF2-40B4-BE49-F238E27FC236}">
                <a16:creationId xmlns:a16="http://schemas.microsoft.com/office/drawing/2014/main" id="{4F93E671-13D9-7083-DC2C-A39F0AFFDC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1408365"/>
              </p:ext>
            </p:extLst>
          </p:nvPr>
        </p:nvGraphicFramePr>
        <p:xfrm>
          <a:off x="1540440" y="1255879"/>
          <a:ext cx="9660010" cy="41508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4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0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4030">
                  <a:extLst>
                    <a:ext uri="{9D8B030D-6E8A-4147-A177-3AD203B41FA5}">
                      <a16:colId xmlns:a16="http://schemas.microsoft.com/office/drawing/2014/main" val="3759585073"/>
                    </a:ext>
                  </a:extLst>
                </a:gridCol>
              </a:tblGrid>
              <a:tr h="3677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Solver / Module</a:t>
                      </a:r>
                    </a:p>
                  </a:txBody>
                  <a:tcPr anchor="ctr">
                    <a:solidFill>
                      <a:srgbClr val="0176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Complexity</a:t>
                      </a:r>
                    </a:p>
                  </a:txBody>
                  <a:tcPr anchor="ctr">
                    <a:solidFill>
                      <a:srgbClr val="0176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Notes</a:t>
                      </a:r>
                    </a:p>
                  </a:txBody>
                  <a:tcPr anchor="ctr">
                    <a:solidFill>
                      <a:srgbClr val="0176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4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Edmonds–Karp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O(VE²)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small networks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7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Dinic (default)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O(V²E)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layered/DAG networks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4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Push–Relabel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O(V²√E)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dense / high fan-out networks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83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Min-Cut Enumeration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O(V+E) + O(2^|F|)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free zone is a cheap BFS; full enumeration is exponential, bounded by </a:t>
                      </a:r>
                      <a:r>
                        <a:rPr lang="en-GB" sz="1800">
                          <a:latin typeface="Courier New" panose="02070309020205020404" pitchFamily="49" charset="0"/>
                        </a:rPr>
                        <a:t>cut_limit</a:t>
                      </a:r>
                      <a:endParaRPr lang="en-GB" sz="1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4331541"/>
                  </a:ext>
                </a:extLst>
              </a:tr>
              <a:tr h="5254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Flow Sensitivity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O(|</a:t>
                      </a:r>
                      <a:r>
                        <a:rPr lang="en-GB" sz="1800" dirty="0" err="1"/>
                        <a:t>E_sat</a:t>
                      </a:r>
                      <a:r>
                        <a:rPr lang="en-GB" sz="1800" dirty="0"/>
                        <a:t>| × </a:t>
                      </a:r>
                      <a:r>
                        <a:rPr lang="en-GB" sz="1800" dirty="0" err="1"/>
                        <a:t>T_flow</a:t>
                      </a:r>
                      <a:r>
                        <a:rPr lang="en-GB" sz="1800" dirty="0"/>
                        <a:t>)*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one re-solve per saturated edge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3339094"/>
                  </a:ext>
                </a:extLst>
              </a:tr>
              <a:tr h="8406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Parametric Threshold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O(|E| × </a:t>
                      </a:r>
                      <a:r>
                        <a:rPr lang="en-GB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max_depth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GB" sz="1800" dirty="0"/>
                        <a:t> × </a:t>
                      </a:r>
                      <a:r>
                        <a:rPr lang="en-GB" sz="1800" dirty="0" err="1"/>
                        <a:t>T_flow</a:t>
                      </a:r>
                      <a:r>
                        <a:rPr lang="en-GB" sz="1800" dirty="0"/>
                        <a:t>)*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per-edge binary search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1672969"/>
                  </a:ext>
                </a:extLst>
              </a:tr>
            </a:tbl>
          </a:graphicData>
        </a:graphic>
      </p:graphicFrame>
      <p:sp>
        <p:nvSpPr>
          <p:cNvPr id="9" name="Content Placeholder 104">
            <a:extLst>
              <a:ext uri="{FF2B5EF4-FFF2-40B4-BE49-F238E27FC236}">
                <a16:creationId xmlns:a16="http://schemas.microsoft.com/office/drawing/2014/main" id="{F195D00C-D95F-1476-1A38-619DCCC974D8}"/>
              </a:ext>
            </a:extLst>
          </p:cNvPr>
          <p:cNvSpPr txBox="1">
            <a:spLocks/>
          </p:cNvSpPr>
          <p:nvPr/>
        </p:nvSpPr>
        <p:spPr>
          <a:xfrm>
            <a:off x="2381019" y="5406721"/>
            <a:ext cx="3795924" cy="32621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marL="0" indent="0">
              <a:buNone/>
            </a:pPr>
            <a:r>
              <a:rPr lang="en-GB" sz="1400" i="1" dirty="0"/>
              <a:t>*T = one baseline max-flow solve.</a:t>
            </a:r>
          </a:p>
        </p:txBody>
      </p:sp>
    </p:spTree>
    <p:extLst>
      <p:ext uri="{BB962C8B-B14F-4D97-AF65-F5344CB8AC3E}">
        <p14:creationId xmlns:p14="http://schemas.microsoft.com/office/powerpoint/2010/main" val="1899051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509" y="124432"/>
            <a:ext cx="10573801" cy="763500"/>
          </a:xfrm>
        </p:spPr>
        <p:txBody>
          <a:bodyPr/>
          <a:lstStyle/>
          <a:p>
            <a:pPr algn="r"/>
            <a:r>
              <a:rPr lang="en-GB" dirty="0"/>
              <a:t>Flow Capacity : </a:t>
            </a:r>
            <a:r>
              <a:rPr lang="en-GB" sz="4000" b="1" dirty="0"/>
              <a:t>Case Study</a:t>
            </a:r>
            <a:endParaRPr lang="en-GB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20</a:t>
            </a:fld>
            <a:endParaRPr lang="en-GB"/>
          </a:p>
        </p:txBody>
      </p:sp>
      <p:sp>
        <p:nvSpPr>
          <p:cNvPr id="142" name="TextBox 142"/>
          <p:cNvSpPr txBox="1"/>
          <p:nvPr/>
        </p:nvSpPr>
        <p:spPr>
          <a:xfrm>
            <a:off x="1124064" y="1023742"/>
            <a:ext cx="10904246" cy="118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914318">
              <a:lnSpc>
                <a:spcPct val="120000"/>
              </a:lnSpc>
              <a:spcBef>
                <a:spcPts val="1000"/>
              </a:spcBef>
              <a:buClr>
                <a:srgbClr val="0177AD"/>
              </a:buClr>
              <a:buFont typeface="Arial" panose="020B0604020202020204" pitchFamily="34" charset="0"/>
              <a:buChar char="•"/>
            </a:pPr>
            <a:r>
              <a:rPr lang="en-GB" dirty="0"/>
              <a:t>Two competing designs for a synthetic, multi-source multi-sink DAG network</a:t>
            </a:r>
          </a:p>
          <a:p>
            <a:pPr marL="285750" indent="-285750" defTabSz="914318">
              <a:lnSpc>
                <a:spcPct val="120000"/>
              </a:lnSpc>
              <a:spcBef>
                <a:spcPts val="1000"/>
              </a:spcBef>
              <a:buClr>
                <a:srgbClr val="0177AD"/>
              </a:buClr>
              <a:buFont typeface="Arial" panose="020B0604020202020204" pitchFamily="34" charset="0"/>
              <a:buChar char="•"/>
            </a:pPr>
            <a:r>
              <a:rPr lang="en-GB" b="1" dirty="0"/>
              <a:t>43 nodes · 107 edges </a:t>
            </a:r>
            <a:r>
              <a:rPr lang="en-GB" dirty="0"/>
              <a:t>(5 sources → hubs → processing/bypass nodes (node-capacitated) → trunk/secondary layers → 2 gateways → 1 combiner → 7 sinks )</a:t>
            </a:r>
          </a:p>
        </p:txBody>
      </p:sp>
      <p:sp>
        <p:nvSpPr>
          <p:cNvPr id="146" name="Content Placeholder 146"/>
          <p:cNvSpPr txBox="1">
            <a:spLocks/>
          </p:cNvSpPr>
          <p:nvPr/>
        </p:nvSpPr>
        <p:spPr>
          <a:xfrm>
            <a:off x="1316083" y="5775422"/>
            <a:ext cx="4725501" cy="450000"/>
          </a:xfrm>
          <a:prstGeom prst="rect">
            <a:avLst/>
          </a:prstGeom>
        </p:spPr>
        <p:txBody>
          <a:bodyPr vert="horz" lIns="0" tIns="45720" rIns="0" bIns="45720" rtlCol="0">
            <a:normAutofit fontScale="55000" lnSpcReduction="20000"/>
          </a:bodyPr>
          <a:lstStyle/>
          <a:p>
            <a:pPr algn="ctr" defTabSz="914318">
              <a:lnSpc>
                <a:spcPct val="140000"/>
              </a:lnSpc>
              <a:spcBef>
                <a:spcPts val="1000"/>
              </a:spcBef>
              <a:buClr>
                <a:srgbClr val="0177AD"/>
              </a:buClr>
            </a:pPr>
            <a:r>
              <a:rPr lang="en-GB" sz="2100" dirty="0"/>
              <a:t>Configuration A:  symmetric feeders + limited direct bypass to sink_4</a:t>
            </a:r>
          </a:p>
          <a:p>
            <a:pPr marL="0" indent="0" algn="ctr">
              <a:buNone/>
            </a:pPr>
            <a:endParaRPr lang="en-GB" sz="1600" i="1" dirty="0"/>
          </a:p>
        </p:txBody>
      </p:sp>
      <p:sp>
        <p:nvSpPr>
          <p:cNvPr id="3" name="Content Placeholder 146">
            <a:extLst>
              <a:ext uri="{FF2B5EF4-FFF2-40B4-BE49-F238E27FC236}">
                <a16:creationId xmlns:a16="http://schemas.microsoft.com/office/drawing/2014/main" id="{73D634AF-A57C-8C06-D31A-EDF5924C5627}"/>
              </a:ext>
            </a:extLst>
          </p:cNvPr>
          <p:cNvSpPr txBox="1">
            <a:spLocks/>
          </p:cNvSpPr>
          <p:nvPr/>
        </p:nvSpPr>
        <p:spPr>
          <a:xfrm>
            <a:off x="7218794" y="5705564"/>
            <a:ext cx="4725501" cy="58971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algn="ctr" defTabSz="914318">
              <a:lnSpc>
                <a:spcPct val="140000"/>
              </a:lnSpc>
              <a:spcBef>
                <a:spcPts val="1000"/>
              </a:spcBef>
              <a:buClr>
                <a:srgbClr val="0177AD"/>
              </a:buClr>
            </a:pPr>
            <a:r>
              <a:rPr lang="en-GB" sz="1200" dirty="0"/>
              <a:t>Configuration B: reinforced feeder capacities into the gateway layer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B72C3449-CE72-4DC1-AA88-0DA36ECDF7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294" y="2586038"/>
            <a:ext cx="5209081" cy="3104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49452DB6-E81C-C9B3-6AE8-F484DAEDA2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187" y="2409825"/>
            <a:ext cx="5396700" cy="3193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509" y="124432"/>
            <a:ext cx="10573801" cy="763500"/>
          </a:xfrm>
        </p:spPr>
        <p:txBody>
          <a:bodyPr/>
          <a:lstStyle/>
          <a:p>
            <a:pPr algn="r"/>
            <a:r>
              <a:rPr lang="en-GB" dirty="0"/>
              <a:t>Flow Capacity : </a:t>
            </a:r>
            <a:r>
              <a:rPr lang="en-GB" sz="4000" b="1" dirty="0"/>
              <a:t>Case Study</a:t>
            </a:r>
            <a:endParaRPr lang="en-GB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21</a:t>
            </a:fld>
            <a:endParaRPr lang="en-GB"/>
          </a:p>
        </p:txBody>
      </p:sp>
      <p:sp>
        <p:nvSpPr>
          <p:cNvPr id="147" name="TextBox 147"/>
          <p:cNvSpPr txBox="1"/>
          <p:nvPr/>
        </p:nvSpPr>
        <p:spPr>
          <a:xfrm>
            <a:off x="1073755" y="1156513"/>
            <a:ext cx="1090424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Despite F⋆ = 37.0 for both configurations and the same degradation curve, configuration 2 has more upgrade recommendations.</a:t>
            </a:r>
          </a:p>
          <a:p>
            <a:endParaRPr lang="en-GB" dirty="0"/>
          </a:p>
        </p:txBody>
      </p:sp>
      <p:graphicFrame>
        <p:nvGraphicFramePr>
          <p:cNvPr id="148" name="Table 1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4659520"/>
              </p:ext>
            </p:extLst>
          </p:nvPr>
        </p:nvGraphicFramePr>
        <p:xfrm>
          <a:off x="1145844" y="1986021"/>
          <a:ext cx="5968264" cy="391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72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46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6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94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 marL="45720" marR="45720" marT="22860" marB="22860" anchor="ctr">
                    <a:solidFill>
                      <a:srgbClr val="0176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b="1" dirty="0">
                          <a:solidFill>
                            <a:srgbClr val="FFFFFF"/>
                          </a:solidFill>
                        </a:rPr>
                        <a:t>Config A</a:t>
                      </a:r>
                    </a:p>
                  </a:txBody>
                  <a:tcPr marL="45720" marR="45720" marT="22860" marB="22860" anchor="ctr">
                    <a:solidFill>
                      <a:srgbClr val="0176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b="1" dirty="0">
                          <a:solidFill>
                            <a:srgbClr val="FFFFFF"/>
                          </a:solidFill>
                        </a:rPr>
                        <a:t>Config B</a:t>
                      </a:r>
                    </a:p>
                  </a:txBody>
                  <a:tcPr marL="45720" marR="45720" marT="22860" marB="22860" anchor="ctr">
                    <a:solidFill>
                      <a:srgbClr val="0176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4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dirty="0"/>
                        <a:t>Max Flow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dirty="0"/>
                        <a:t>37.0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dirty="0"/>
                        <a:t>37.0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1294426114"/>
                  </a:ext>
                </a:extLst>
              </a:tr>
              <a:tr h="4894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dirty="0"/>
                        <a:t>Saturated edges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dirty="0"/>
                        <a:t>41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dirty="0"/>
                        <a:t>35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4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dirty="0"/>
                        <a:t>Free-zone size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dirty="0"/>
                        <a:t>2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dirty="0"/>
                        <a:t>0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4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dirty="0"/>
                        <a:t>Min-cuts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dirty="0"/>
                        <a:t>4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dirty="0"/>
                        <a:t>1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4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dirty="0"/>
                        <a:t>SPOF nodes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dirty="0"/>
                        <a:t>0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dirty="0"/>
                        <a:t>0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4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dirty="0"/>
                        <a:t>Gateway upgrade effective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dirty="0"/>
                        <a:t>no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dirty="0"/>
                        <a:t>yes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94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dirty="0"/>
                        <a:t>Bypass upgrade effective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dirty="0"/>
                        <a:t>yes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dirty="0"/>
                        <a:t>yes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1969639692"/>
                  </a:ext>
                </a:extLst>
              </a:tr>
            </a:tbl>
          </a:graphicData>
        </a:graphic>
      </p:graphicFrame>
      <p:graphicFrame>
        <p:nvGraphicFramePr>
          <p:cNvPr id="6" name="Table 168">
            <a:extLst>
              <a:ext uri="{FF2B5EF4-FFF2-40B4-BE49-F238E27FC236}">
                <a16:creationId xmlns:a16="http://schemas.microsoft.com/office/drawing/2014/main" id="{FD26C310-F8C3-5C80-2BDA-9706D97421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2286795"/>
              </p:ext>
            </p:extLst>
          </p:nvPr>
        </p:nvGraphicFramePr>
        <p:xfrm>
          <a:off x="6741409" y="4933568"/>
          <a:ext cx="5325476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04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01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49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b="1" dirty="0">
                          <a:solidFill>
                            <a:srgbClr val="FFFFFF"/>
                          </a:solidFill>
                        </a:rPr>
                        <a:t>Edge</a:t>
                      </a:r>
                    </a:p>
                  </a:txBody>
                  <a:tcPr marL="45720" marR="45720" marT="22860" marB="22860" anchor="ctr">
                    <a:solidFill>
                      <a:srgbClr val="0176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b="1" dirty="0">
                          <a:solidFill>
                            <a:srgbClr val="FFFFFF"/>
                          </a:solidFill>
                        </a:rPr>
                        <a:t>Config A upgrade</a:t>
                      </a:r>
                    </a:p>
                  </a:txBody>
                  <a:tcPr marL="45720" marR="45720" marT="22860" marB="22860" anchor="ctr">
                    <a:solidFill>
                      <a:srgbClr val="0176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b="1" dirty="0">
                          <a:solidFill>
                            <a:srgbClr val="FFFFFF"/>
                          </a:solidFill>
                        </a:rPr>
                        <a:t>Config B upgrade</a:t>
                      </a:r>
                    </a:p>
                  </a:txBody>
                  <a:tcPr marL="45720" marR="45720" marT="22860" marB="22860" anchor="ctr">
                    <a:solidFill>
                      <a:srgbClr val="0176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dirty="0"/>
                        <a:t>gateway(134 → 136)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dirty="0"/>
                        <a:t>ineffective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dirty="0"/>
                        <a:t>+1.0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dirty="0"/>
                        <a:t>(135 → 136)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dirty="0"/>
                        <a:t>ineffective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dirty="0"/>
                        <a:t>+1.0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dirty="0"/>
                        <a:t>bypass (132 → 140)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dirty="0"/>
                        <a:t>+1.0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dirty="0"/>
                        <a:t>+1.0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04482-EC2E-97D6-A980-8E5CAE092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64DDD-3594-0371-D853-1A20A13E6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4509" y="124432"/>
            <a:ext cx="10573801" cy="763500"/>
          </a:xfrm>
        </p:spPr>
        <p:txBody>
          <a:bodyPr/>
          <a:lstStyle/>
          <a:p>
            <a:pPr algn="r"/>
            <a:r>
              <a:rPr lang="en-GB" dirty="0"/>
              <a:t>Algorithm family 3: Reachability</a:t>
            </a:r>
            <a:endParaRPr lang="en-GB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E0A5A-98FA-F6E7-3127-9B3CD91E02C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22</a:t>
            </a:fld>
            <a:endParaRPr lang="en-GB"/>
          </a:p>
        </p:txBody>
      </p:sp>
      <p:sp>
        <p:nvSpPr>
          <p:cNvPr id="18" name="Content Placeholder 4">
            <a:extLst>
              <a:ext uri="{FF2B5EF4-FFF2-40B4-BE49-F238E27FC236}">
                <a16:creationId xmlns:a16="http://schemas.microsoft.com/office/drawing/2014/main" id="{DB7240E6-ABFB-B5F5-19AE-C03FE50EDA66}"/>
              </a:ext>
            </a:extLst>
          </p:cNvPr>
          <p:cNvSpPr txBox="1">
            <a:spLocks/>
          </p:cNvSpPr>
          <p:nvPr/>
        </p:nvSpPr>
        <p:spPr>
          <a:xfrm>
            <a:off x="1223298" y="2607408"/>
            <a:ext cx="6161510" cy="28853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0" indent="0" algn="l" defTabSz="914318" rtl="0" eaLnBrk="1" latinLnBrk="0" hangingPunct="1">
              <a:lnSpc>
                <a:spcPct val="120000"/>
              </a:lnSpc>
              <a:spcBef>
                <a:spcPts val="1000"/>
              </a:spcBef>
              <a:buClr>
                <a:srgbClr val="0177AD"/>
              </a:buClr>
              <a:buFont typeface="Wingdings" pitchFamily="2" charset="2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Clr>
                <a:srgbClr val="0177AD"/>
              </a:buClr>
              <a:buFont typeface="Wingdings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Clr>
                <a:srgbClr val="0177AD"/>
              </a:buClr>
              <a:buFont typeface="Wingdings" pitchFamily="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Clr>
                <a:srgbClr val="0177AD"/>
              </a:buClr>
              <a:buFont typeface="Wingdings" pitchFamily="2" charset="2"/>
              <a:buNone/>
              <a:defRPr sz="10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Clr>
                <a:srgbClr val="0177AD"/>
              </a:buClr>
              <a:buFont typeface="Wingdings" pitchFamily="2" charset="2"/>
              <a:buNone/>
              <a:defRPr sz="1000" kern="1200" baseline="0">
                <a:solidFill>
                  <a:schemeClr val="tx1">
                    <a:alpha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374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34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692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50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30"/>
            <a:endParaRPr lang="en-GB" sz="18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A123D3-0F51-CDDB-126D-5339352494DB}"/>
              </a:ext>
            </a:extLst>
          </p:cNvPr>
          <p:cNvSpPr txBox="1"/>
          <p:nvPr/>
        </p:nvSpPr>
        <p:spPr>
          <a:xfrm>
            <a:off x="1028305" y="1095762"/>
            <a:ext cx="109042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Analysis Perspective: </a:t>
            </a:r>
            <a:r>
              <a:rPr lang="en-GB" dirty="0"/>
              <a:t>The probability that at least one viable path from any source reaches a specific node in the network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1B8DB06E-CF45-3CCF-B94A-9424284EB3C2}"/>
              </a:ext>
            </a:extLst>
          </p:cNvPr>
          <p:cNvSpPr txBox="1">
            <a:spLocks/>
          </p:cNvSpPr>
          <p:nvPr/>
        </p:nvSpPr>
        <p:spPr>
          <a:xfrm>
            <a:off x="1296322" y="2036625"/>
            <a:ext cx="4453603" cy="436417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0" indent="0" algn="l" defTabSz="914318" rtl="0" eaLnBrk="1" latinLnBrk="0" hangingPunct="1">
              <a:lnSpc>
                <a:spcPct val="120000"/>
              </a:lnSpc>
              <a:spcBef>
                <a:spcPts val="1000"/>
              </a:spcBef>
              <a:buClr>
                <a:srgbClr val="0177AD"/>
              </a:buClr>
              <a:buFont typeface="Wingdings" pitchFamily="2" charset="2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Clr>
                <a:srgbClr val="0177AD"/>
              </a:buClr>
              <a:buFont typeface="Wingdings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Clr>
                <a:srgbClr val="0177AD"/>
              </a:buClr>
              <a:buFont typeface="Wingdings" pitchFamily="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Clr>
                <a:srgbClr val="0177AD"/>
              </a:buClr>
              <a:buFont typeface="Wingdings" pitchFamily="2" charset="2"/>
              <a:buNone/>
              <a:defRPr sz="10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914318" rtl="0" eaLnBrk="1" latinLnBrk="0" hangingPunct="1">
              <a:lnSpc>
                <a:spcPct val="120000"/>
              </a:lnSpc>
              <a:spcBef>
                <a:spcPts val="499"/>
              </a:spcBef>
              <a:buClr>
                <a:srgbClr val="0177AD"/>
              </a:buClr>
              <a:buFont typeface="Wingdings" pitchFamily="2" charset="2"/>
              <a:buNone/>
              <a:defRPr sz="1000" kern="1200" baseline="0">
                <a:solidFill>
                  <a:schemeClr val="tx1">
                    <a:alpha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374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34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692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50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30"/>
            <a:r>
              <a:rPr lang="en-GB" sz="1800" dirty="0"/>
              <a:t>Given the shared network model, this module answers: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800" dirty="0"/>
              <a:t>Does a target node remain reachable under uncertain component and edge failures?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800" dirty="0"/>
              <a:t>Where does shared ancestry break the naive independence assumption?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800" dirty="0"/>
              <a:t>How deep can dependency nesting go before exact computation becomes impractical?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D398564-54DD-596D-6396-CA6D4EC255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774" y="2312876"/>
            <a:ext cx="5872976" cy="285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235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509" y="124432"/>
            <a:ext cx="10573801" cy="763500"/>
          </a:xfrm>
        </p:spPr>
        <p:txBody>
          <a:bodyPr/>
          <a:lstStyle/>
          <a:p>
            <a:pPr algn="r"/>
            <a:r>
              <a:rPr lang="en-GB" dirty="0"/>
              <a:t>Algorithm family 3: Reachability</a:t>
            </a:r>
            <a:endParaRPr lang="en-GB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23</a:t>
            </a:fld>
            <a:endParaRPr lang="en-GB"/>
          </a:p>
        </p:txBody>
      </p:sp>
      <p:sp>
        <p:nvSpPr>
          <p:cNvPr id="101" name="Content Placeholder 101"/>
          <p:cNvSpPr txBox="1">
            <a:spLocks/>
          </p:cNvSpPr>
          <p:nvPr/>
        </p:nvSpPr>
        <p:spPr>
          <a:xfrm>
            <a:off x="1092004" y="854033"/>
            <a:ext cx="10968365" cy="228856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defTabSz="914318">
              <a:lnSpc>
                <a:spcPct val="140000"/>
              </a:lnSpc>
              <a:spcBef>
                <a:spcPts val="1000"/>
              </a:spcBef>
              <a:buClr>
                <a:srgbClr val="0177AD"/>
              </a:buClr>
            </a:pPr>
            <a:r>
              <a:rPr lang="en-GB" dirty="0"/>
              <a:t>Each node and edge carries a reliability value drawn from the same shared network model used elsewhere in the framework:</a:t>
            </a:r>
          </a:p>
          <a:p>
            <a:pPr marL="742915" lvl="1" indent="-285750" defTabSz="914318">
              <a:lnSpc>
                <a:spcPct val="140000"/>
              </a:lnSpc>
              <a:spcBef>
                <a:spcPts val="1000"/>
              </a:spcBef>
              <a:buClr>
                <a:srgbClr val="0177AD"/>
              </a:buClr>
              <a:buFont typeface="Arial" panose="020B0604020202020204" pitchFamily="34" charset="0"/>
              <a:buChar char="•"/>
            </a:pPr>
            <a:r>
              <a:rPr lang="en-GB" dirty="0"/>
              <a:t>R(v) = P(Xv=1) — intrinsic reliability of node v</a:t>
            </a:r>
          </a:p>
          <a:p>
            <a:pPr marL="742915" lvl="1" indent="-285750" defTabSz="914318">
              <a:lnSpc>
                <a:spcPct val="140000"/>
              </a:lnSpc>
              <a:spcBef>
                <a:spcPts val="1000"/>
              </a:spcBef>
              <a:buClr>
                <a:srgbClr val="0177AD"/>
              </a:buClr>
              <a:buFont typeface="Arial" panose="020B0604020202020204" pitchFamily="34" charset="0"/>
              <a:buChar char="•"/>
            </a:pPr>
            <a:r>
              <a:rPr lang="en-GB" dirty="0"/>
              <a:t>P(u,v) = P(Xuv=1) — transmission probability of edge (u,v)</a:t>
            </a:r>
          </a:p>
        </p:txBody>
      </p:sp>
      <p:sp>
        <p:nvSpPr>
          <p:cNvPr id="103" name="Content Placeholder 103"/>
          <p:cNvSpPr txBox="1">
            <a:spLocks/>
          </p:cNvSpPr>
          <p:nvPr/>
        </p:nvSpPr>
        <p:spPr>
          <a:xfrm>
            <a:off x="1092004" y="6374272"/>
            <a:ext cx="10904246" cy="500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marL="0" indent="0">
              <a:buNone/>
            </a:pPr>
            <a:r>
              <a:rPr lang="en-GB" sz="1600" b="1" i="1" dirty="0"/>
              <a:t>Note</a:t>
            </a:r>
            <a:r>
              <a:rPr lang="en-GB" sz="1600" i="1" dirty="0"/>
              <a:t>: In this framework, b(v) is computed for every node in the network, not just designated sink nodes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314A84-D842-03D2-7C58-6323ACCE2C9F}"/>
              </a:ext>
            </a:extLst>
          </p:cNvPr>
          <p:cNvSpPr txBox="1"/>
          <p:nvPr/>
        </p:nvSpPr>
        <p:spPr>
          <a:xfrm>
            <a:off x="943955" y="4545483"/>
            <a:ext cx="10904246" cy="394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318">
              <a:lnSpc>
                <a:spcPct val="120000"/>
              </a:lnSpc>
              <a:spcBef>
                <a:spcPts val="1000"/>
              </a:spcBef>
              <a:buClr>
                <a:srgbClr val="0177AD"/>
              </a:buClr>
            </a:pPr>
            <a:r>
              <a:rPr lang="en-GB" dirty="0"/>
              <a:t>When the node’s parent paths share no common ancestry, incoming signals combine independently: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B4D6FFE-B77E-9F5E-F760-AAE6CB95D58B}"/>
                  </a:ext>
                </a:extLst>
              </p:cNvPr>
              <p:cNvSpPr txBox="1"/>
              <p:nvPr/>
            </p:nvSpPr>
            <p:spPr>
              <a:xfrm>
                <a:off x="3177886" y="3142598"/>
                <a:ext cx="6315447" cy="10977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sub>
                            </m:sSub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⋯</m:t>
                            </m:r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⋯</m:t>
                            </m:r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=1  </m:t>
                            </m:r>
                            <m:d>
                              <m:d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nor/>
                                  </m:rPr>
                                  <a:rPr lang="en-GB" i="0">
                                    <a:latin typeface="Cambria Math" panose="02040503050406030204" pitchFamily="18" charset="0"/>
                                  </a:rPr>
                                  <m:t>viable</m:t>
                                </m:r>
                                <m:r>
                                  <m:rPr>
                                    <m:nor/>
                                  </m:rPr>
                                  <a:rPr lang="en-GB" i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i="0">
                                    <a:latin typeface="Cambria Math" panose="02040503050406030204" pitchFamily="18" charset="0"/>
                                  </a:rPr>
                                  <m:t>path</m:t>
                                </m:r>
                              </m:e>
                            </m:d>
                          </m:e>
                        </m:mr>
                        <m:m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          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d>
                              <m:d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d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nary>
                                  <m:naryPr>
                                    <m:chr m:val="⋃"/>
                                    <m:supHide m:val="on"/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sub>
                                  <m:sup/>
                                  <m:e/>
                                </m:nary>
                                <m:nary>
                                  <m:naryPr>
                                    <m:chr m:val="⋃"/>
                                    <m:supHide m:val="on"/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GB" i="0"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  <m:d>
                                      <m:dPr>
                                        <m:ctrlPr>
                                          <a:rPr lang="en-GB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GB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  <m:r>
                                          <a:rPr lang="en-GB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GB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d>
                                  </m:sub>
                                  <m:sup/>
                                  <m:e>
                                    <m:r>
                                      <m:rPr>
                                        <m:lit/>
                                      </m:r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{</m:t>
                                    </m:r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GB" i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GB" i="0">
                                        <a:latin typeface="Cambria Math" panose="02040503050406030204" pitchFamily="18" charset="0"/>
                                      </a:rPr>
                                      <m:t>is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GB" i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GB" i="0">
                                        <a:latin typeface="Cambria Math" panose="02040503050406030204" pitchFamily="18" charset="0"/>
                                      </a:rPr>
                                      <m:t>viable</m:t>
                                    </m:r>
                                    <m:r>
                                      <m:rPr>
                                        <m:lit/>
                                      </m:r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}</m:t>
                                    </m:r>
                                  </m:e>
                                </m:nary>
                              </m:e>
                            </m:d>
                          </m:e>
                        </m:mr>
                      </m:m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B4D6FFE-B77E-9F5E-F760-AAE6CB95D5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7886" y="3142598"/>
                <a:ext cx="6315447" cy="109773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4C402B8-2736-592A-05FC-E0229C96B240}"/>
                  </a:ext>
                </a:extLst>
              </p:cNvPr>
              <p:cNvSpPr txBox="1"/>
              <p:nvPr/>
            </p:nvSpPr>
            <p:spPr>
              <a:xfrm>
                <a:off x="3638551" y="5206744"/>
                <a:ext cx="4409412" cy="10267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&amp;=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 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&amp;=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nary>
                                <m:naryPr>
                                  <m:chr m:val="∏"/>
                                  <m:supHide m:val="on"/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m:rPr>
                                      <m:nor/>
                                    </m:rPr>
                                    <a:rPr lang="en-GB" i="0">
                                      <a:latin typeface="Cambria Math" panose="02040503050406030204" pitchFamily="18" charset="0"/>
                                    </a:rPr>
                                    <m:t>Pa</m:t>
                                  </m:r>
                                  <m:d>
                                    <m:d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d>
                                </m:sub>
                                <m:sup/>
                                <m:e>
                                  <m:d>
                                    <m:d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  <m:d>
                                        <m:d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</m:d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 </m:t>
                                      </m:r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  <m:d>
                                        <m:d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nary>
                            </m:e>
                          </m:d>
                        </m:e>
                      </m:eqAr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4C402B8-2736-592A-05FC-E0229C96B2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8551" y="5206744"/>
                <a:ext cx="4409412" cy="10267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F9080-75D0-3016-4072-71793F666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E1FBC-49DF-4FFE-7960-3958E8315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1" y="124432"/>
            <a:ext cx="10961510" cy="763500"/>
          </a:xfrm>
        </p:spPr>
        <p:txBody>
          <a:bodyPr/>
          <a:lstStyle/>
          <a:p>
            <a:pPr algn="r"/>
            <a:r>
              <a:rPr lang="en-GB" dirty="0"/>
              <a:t>Reachability : The Diamond Problem</a:t>
            </a:r>
            <a:endParaRPr lang="en-GB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84BE0C-8814-78C6-A605-571113D6DF2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24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Content Placeholder 107">
                <a:extLst>
                  <a:ext uri="{FF2B5EF4-FFF2-40B4-BE49-F238E27FC236}">
                    <a16:creationId xmlns:a16="http://schemas.microsoft.com/office/drawing/2014/main" id="{0E3D26AA-FBF7-BC55-8729-486FDDB5F4E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26762" y="4290708"/>
                <a:ext cx="10494185" cy="2262492"/>
              </a:xfrm>
              <a:prstGeom prst="rect">
                <a:avLst/>
              </a:prstGeom>
            </p:spPr>
            <p:txBody>
              <a:bodyPr vert="horz" lIns="0" tIns="45720" rIns="0" bIns="45720" rtlCol="0">
                <a:normAutofit/>
              </a:bodyPr>
              <a:lstStyle/>
              <a:p>
                <a:pPr marL="285750" indent="-285750" defTabSz="914318">
                  <a:lnSpc>
                    <a:spcPct val="120000"/>
                  </a:lnSpc>
                  <a:spcBef>
                    <a:spcPts val="1000"/>
                  </a:spcBef>
                  <a:buClr>
                    <a:srgbClr val="0177AD"/>
                  </a:buClr>
                  <a:buFont typeface="Arial" panose="020B0604020202020204" pitchFamily="34" charset="0"/>
                  <a:buChar char="•"/>
                </a:pPr>
                <a:r>
                  <a:rPr lang="en-GB" dirty="0"/>
                  <a:t>A </a:t>
                </a:r>
                <a:r>
                  <a:rPr lang="en-GB" b="1" dirty="0"/>
                  <a:t>diamond subgraph </a:t>
                </a:r>
                <a:r>
                  <a:rPr lang="en-GB" dirty="0"/>
                  <a:t>is formed when ≥2 outgoing paths that diverge at a common fork node reconverge at a later common join node. </a:t>
                </a:r>
              </a:p>
              <a:p>
                <a:pPr marL="285750" indent="-285750" defTabSz="914318">
                  <a:lnSpc>
                    <a:spcPct val="120000"/>
                  </a:lnSpc>
                  <a:spcBef>
                    <a:spcPts val="1000"/>
                  </a:spcBef>
                  <a:buClr>
                    <a:srgbClr val="0177AD"/>
                  </a:buClr>
                  <a:buFont typeface="Arial" panose="020B0604020202020204" pitchFamily="34" charset="0"/>
                  <a:buChar char="•"/>
                </a:pPr>
                <a:r>
                  <a:rPr lang="en-GB" dirty="0"/>
                  <a:t>Treating the incoming parent signals as independent overestimates the reachability as:</a:t>
                </a:r>
              </a:p>
              <a:p>
                <a:pPr defTabSz="914318">
                  <a:lnSpc>
                    <a:spcPct val="120000"/>
                  </a:lnSpc>
                  <a:spcBef>
                    <a:spcPts val="1000"/>
                  </a:spcBef>
                  <a:buClr>
                    <a:srgbClr val="0177AD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∪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=1−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dirty="0"/>
              </a:p>
              <a:p>
                <a:pPr marL="285750" indent="-285750" defTabSz="914318">
                  <a:lnSpc>
                    <a:spcPct val="120000"/>
                  </a:lnSpc>
                  <a:spcBef>
                    <a:spcPts val="1000"/>
                  </a:spcBef>
                  <a:buClr>
                    <a:srgbClr val="0177AD"/>
                  </a:buClr>
                  <a:buFont typeface="Arial" panose="020B0604020202020204" pitchFamily="34" charset="0"/>
                  <a:buChar char="•"/>
                </a:pPr>
                <a:r>
                  <a:rPr lang="en-GB" dirty="0"/>
                  <a:t>This ignores the correlation induced by the shared fork</a:t>
                </a:r>
              </a:p>
            </p:txBody>
          </p:sp>
        </mc:Choice>
        <mc:Fallback xmlns="">
          <p:sp>
            <p:nvSpPr>
              <p:cNvPr id="107" name="Content Placeholder 107">
                <a:extLst>
                  <a:ext uri="{FF2B5EF4-FFF2-40B4-BE49-F238E27FC236}">
                    <a16:creationId xmlns:a16="http://schemas.microsoft.com/office/drawing/2014/main" id="{0E3D26AA-FBF7-BC55-8729-486FDDB5F4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6762" y="4290708"/>
                <a:ext cx="10494185" cy="2262492"/>
              </a:xfrm>
              <a:prstGeom prst="rect">
                <a:avLst/>
              </a:prstGeom>
              <a:blipFill>
                <a:blip r:embed="rId2"/>
                <a:stretch>
                  <a:fillRect l="-1220" t="-2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7EFA8B4A-1248-EB54-C191-EC7B6BB9D1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5164" y="1496291"/>
            <a:ext cx="8257834" cy="2213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1444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509" y="124432"/>
            <a:ext cx="10573801" cy="763500"/>
          </a:xfrm>
        </p:spPr>
        <p:txBody>
          <a:bodyPr/>
          <a:lstStyle/>
          <a:p>
            <a:pPr algn="r"/>
            <a:r>
              <a:rPr lang="en-GB" dirty="0"/>
              <a:t>Reachability : Nested Diamonds</a:t>
            </a:r>
            <a:endParaRPr lang="en-GB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25</a:t>
            </a:fld>
            <a:endParaRPr lang="en-GB"/>
          </a:p>
        </p:txBody>
      </p:sp>
      <p:sp>
        <p:nvSpPr>
          <p:cNvPr id="112" name="Content Placeholder 112"/>
          <p:cNvSpPr txBox="1">
            <a:spLocks/>
          </p:cNvSpPr>
          <p:nvPr/>
        </p:nvSpPr>
        <p:spPr>
          <a:xfrm>
            <a:off x="996000" y="1784364"/>
            <a:ext cx="5100000" cy="372628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marL="285750" indent="-285750" defTabSz="914318">
              <a:lnSpc>
                <a:spcPct val="130000"/>
              </a:lnSpc>
              <a:spcBef>
                <a:spcPts val="1000"/>
              </a:spcBef>
              <a:buClr>
                <a:srgbClr val="0177AD"/>
              </a:buClr>
              <a:buFont typeface="Arial" panose="020B0604020202020204" pitchFamily="34" charset="0"/>
              <a:buChar char="•"/>
            </a:pPr>
            <a:r>
              <a:rPr lang="en-GB" dirty="0"/>
              <a:t>Real networks rarely contain only isolated diamonds</a:t>
            </a:r>
          </a:p>
          <a:p>
            <a:pPr marL="285750" indent="-285750" defTabSz="914318">
              <a:lnSpc>
                <a:spcPct val="130000"/>
              </a:lnSpc>
              <a:spcBef>
                <a:spcPts val="1000"/>
              </a:spcBef>
              <a:buClr>
                <a:srgbClr val="0177AD"/>
              </a:buClr>
              <a:buFont typeface="Arial" panose="020B0604020202020204" pitchFamily="34" charset="0"/>
              <a:buChar char="•"/>
            </a:pPr>
            <a:r>
              <a:rPr lang="en-GB" dirty="0"/>
              <a:t>The output of one fork-join subgraph often becomes part of a larger, outer reconvergence</a:t>
            </a:r>
          </a:p>
          <a:p>
            <a:pPr marL="285750" indent="-285750" defTabSz="914318">
              <a:lnSpc>
                <a:spcPct val="130000"/>
              </a:lnSpc>
              <a:spcBef>
                <a:spcPts val="1000"/>
              </a:spcBef>
              <a:buClr>
                <a:srgbClr val="0177AD"/>
              </a:buClr>
              <a:buFont typeface="Arial" panose="020B0604020202020204" pitchFamily="34" charset="0"/>
              <a:buChar char="•"/>
            </a:pPr>
            <a:r>
              <a:rPr lang="en-GB" dirty="0"/>
              <a:t>Without caching, the inner diamond must be resolved every time the outer diamond is conditioned on a new upstream state</a:t>
            </a:r>
          </a:p>
          <a:p>
            <a:pPr marL="285750" indent="-285750" defTabSz="914318">
              <a:lnSpc>
                <a:spcPct val="130000"/>
              </a:lnSpc>
              <a:spcBef>
                <a:spcPts val="1000"/>
              </a:spcBef>
              <a:buClr>
                <a:srgbClr val="0177AD"/>
              </a:buClr>
              <a:buFont typeface="Arial" panose="020B0604020202020204" pitchFamily="34" charset="0"/>
              <a:buChar char="•"/>
            </a:pPr>
            <a:r>
              <a:rPr lang="en-GB" dirty="0"/>
              <a:t>Cost compounds multiplicatively across nesting levels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82A70E2-2AC4-0CCC-EEE7-A6F017545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9469" y="1784364"/>
            <a:ext cx="5983872" cy="372628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1" y="124432"/>
            <a:ext cx="10961510" cy="763500"/>
          </a:xfrm>
        </p:spPr>
        <p:txBody>
          <a:bodyPr/>
          <a:lstStyle/>
          <a:p>
            <a:pPr algn="r"/>
            <a:r>
              <a:rPr lang="en-GB" dirty="0"/>
              <a:t>Reachability : The Diamond Problem</a:t>
            </a:r>
            <a:endParaRPr lang="en-GB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26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Content Placeholder 107"/>
              <p:cNvSpPr txBox="1">
                <a:spLocks/>
              </p:cNvSpPr>
              <p:nvPr/>
            </p:nvSpPr>
            <p:spPr>
              <a:xfrm>
                <a:off x="1201883" y="1627171"/>
                <a:ext cx="10953789" cy="4191997"/>
              </a:xfrm>
              <a:prstGeom prst="rect">
                <a:avLst/>
              </a:prstGeom>
            </p:spPr>
            <p:txBody>
              <a:bodyPr vert="horz" lIns="0" tIns="45720" rIns="0" bIns="45720" rtlCol="0">
                <a:noAutofit/>
              </a:bodyPr>
              <a:lstStyle/>
              <a:p>
                <a:pPr defTabSz="914318">
                  <a:lnSpc>
                    <a:spcPct val="140000"/>
                  </a:lnSpc>
                  <a:spcBef>
                    <a:spcPts val="1000"/>
                  </a:spcBef>
                  <a:buClr>
                    <a:srgbClr val="0177AD"/>
                  </a:buClr>
                </a:pPr>
                <a:r>
                  <a:rPr lang="en-GB" dirty="0"/>
                  <a:t>This module handles diamond subgraphs by conditioning  on the fork's state to restore independence downstream ( law of total probability):</a:t>
                </a:r>
              </a:p>
              <a:p>
                <a:pPr marL="742915" lvl="1" indent="-285750" defTabSz="914318">
                  <a:lnSpc>
                    <a:spcPct val="140000"/>
                  </a:lnSpc>
                  <a:spcBef>
                    <a:spcPts val="1000"/>
                  </a:spcBef>
                  <a:buClr>
                    <a:srgbClr val="0177AD"/>
                  </a:buClr>
                  <a:buFont typeface="Arial" panose="020B0604020202020204" pitchFamily="34" charset="0"/>
                  <a:buChar char="•"/>
                </a:pPr>
                <a:r>
                  <a:rPr lang="en-GB" dirty="0"/>
                  <a:t>If the fork node is active (F=1): downstream paths become conditionally independent</a:t>
                </a:r>
              </a:p>
              <a:p>
                <a:pPr marL="742915" lvl="1" indent="-285750" defTabSz="914318">
                  <a:lnSpc>
                    <a:spcPct val="140000"/>
                  </a:lnSpc>
                  <a:spcBef>
                    <a:spcPts val="1000"/>
                  </a:spcBef>
                  <a:buClr>
                    <a:srgbClr val="0177AD"/>
                  </a:buClr>
                  <a:buFont typeface="Arial" panose="020B0604020202020204" pitchFamily="34" charset="0"/>
                  <a:buChar char="•"/>
                </a:pPr>
                <a:r>
                  <a:rPr lang="en-GB" dirty="0"/>
                  <a:t>If the fork is inactive (F=0): no signal propagates through paths originating from the fork, but other independent routes to the join may still contribute to the join</a:t>
                </a:r>
              </a:p>
              <a:p>
                <a:pPr defTabSz="914318">
                  <a:lnSpc>
                    <a:spcPct val="120000"/>
                  </a:lnSpc>
                  <a:spcBef>
                    <a:spcPts val="1000"/>
                  </a:spcBef>
                  <a:buClr>
                    <a:srgbClr val="0177AD"/>
                  </a:buClr>
                </a:pPr>
                <a:endParaRPr lang="en-GB" i="1" dirty="0">
                  <a:latin typeface="Cambria Math" panose="02040503050406030204" pitchFamily="18" charset="0"/>
                </a:endParaRPr>
              </a:p>
              <a:p>
                <a:pPr defTabSz="914318">
                  <a:lnSpc>
                    <a:spcPct val="120000"/>
                  </a:lnSpc>
                  <a:spcBef>
                    <a:spcPts val="1000"/>
                  </a:spcBef>
                  <a:buClr>
                    <a:srgbClr val="0177AD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sepChr m:val="∣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sepChr m:val="∣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e>
                          <m:acc>
                            <m:accPr>
                              <m:chr m:val="̅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GB" dirty="0"/>
              </a:p>
              <a:p>
                <a:pPr defTabSz="914318">
                  <a:lnSpc>
                    <a:spcPct val="120000"/>
                  </a:lnSpc>
                  <a:spcBef>
                    <a:spcPts val="1000"/>
                  </a:spcBef>
                  <a:buClr>
                    <a:srgbClr val="0177AD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i="1">
                          <a:latin typeface="Cambria Math" panose="02040503050406030204" pitchFamily="18" charset="0"/>
                        </a:rPr>
                        <m:t>where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sepChr m:val="∣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=1−</m:t>
                      </m:r>
                      <m:nary>
                        <m:naryPr>
                          <m:chr m:val="∏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</m:d>
                        </m:e>
                      </m:nary>
                    </m:oMath>
                  </m:oMathPara>
                </a14:m>
                <a:endParaRPr lang="en-GB" dirty="0"/>
              </a:p>
              <a:p>
                <a:pPr defTabSz="914318">
                  <a:lnSpc>
                    <a:spcPct val="120000"/>
                  </a:lnSpc>
                  <a:spcBef>
                    <a:spcPts val="1000"/>
                  </a:spcBef>
                  <a:buClr>
                    <a:srgbClr val="0177AD"/>
                  </a:buClr>
                </a:pPr>
                <a:endParaRPr lang="en-GB" dirty="0"/>
              </a:p>
            </p:txBody>
          </p:sp>
        </mc:Choice>
        <mc:Fallback xmlns="">
          <p:sp>
            <p:nvSpPr>
              <p:cNvPr id="107" name="Content Placeholder 10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1883" y="1627171"/>
                <a:ext cx="10953789" cy="4191997"/>
              </a:xfrm>
              <a:prstGeom prst="rect">
                <a:avLst/>
              </a:prstGeom>
              <a:blipFill>
                <a:blip r:embed="rId3"/>
                <a:stretch>
                  <a:fillRect l="-12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509" y="124432"/>
            <a:ext cx="10573801" cy="763500"/>
          </a:xfrm>
        </p:spPr>
        <p:txBody>
          <a:bodyPr/>
          <a:lstStyle/>
          <a:p>
            <a:pPr algn="r"/>
            <a:r>
              <a:rPr lang="en-GB" dirty="0"/>
              <a:t>Reachability : Full Formalisation</a:t>
            </a:r>
            <a:endParaRPr lang="en-GB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27</a:t>
            </a:fld>
            <a:endParaRPr lang="en-GB"/>
          </a:p>
        </p:txBody>
      </p:sp>
      <p:sp>
        <p:nvSpPr>
          <p:cNvPr id="116" name="Content Placeholder 116"/>
          <p:cNvSpPr txBox="1">
            <a:spLocks/>
          </p:cNvSpPr>
          <p:nvPr/>
        </p:nvSpPr>
        <p:spPr>
          <a:xfrm>
            <a:off x="1151701" y="1700000"/>
            <a:ext cx="10904246" cy="700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marL="0" indent="0">
              <a:buNone/>
            </a:pPr>
            <a:endParaRPr lang="en-GB" sz="17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C449A3D-EB6F-0A2C-E047-4BA2704E33C9}"/>
                  </a:ext>
                </a:extLst>
              </p:cNvPr>
              <p:cNvSpPr txBox="1"/>
              <p:nvPr/>
            </p:nvSpPr>
            <p:spPr>
              <a:xfrm>
                <a:off x="1151701" y="990923"/>
                <a:ext cx="10564091" cy="50184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914318">
                  <a:lnSpc>
                    <a:spcPct val="120000"/>
                  </a:lnSpc>
                  <a:spcBef>
                    <a:spcPts val="1000"/>
                  </a:spcBef>
                  <a:buClr>
                    <a:srgbClr val="0177AD"/>
                  </a:buClr>
                </a:pPr>
                <a:r>
                  <a:rPr lang="en-GB" dirty="0"/>
                  <a:t>Generalising the single-fork conditioning to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dirty="0"/>
                  <a:t> shared conditioning nodes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 = {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₁, …,</m:t>
                    </m:r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GB" dirty="0"/>
                  <a:t>, the diamond function enumerate all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2^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joint states:</a:t>
                </a:r>
              </a:p>
              <a:p>
                <a:pPr defTabSz="914318">
                  <a:lnSpc>
                    <a:spcPct val="120000"/>
                  </a:lnSpc>
                  <a:spcBef>
                    <a:spcPts val="1000"/>
                  </a:spcBef>
                  <a:buClr>
                    <a:srgbClr val="0177AD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lit/>
                            </m:rPr>
                            <a:rPr lang="en-GB" i="1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0,1</m:t>
                          </m:r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lit/>
                                </m:rPr>
                                <a:rPr lang="en-GB" i="1"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</m:sub>
                        <m:sup/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sepChr m:val="∣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e>
                      </m:nary>
                      <m:r>
                        <a:rPr lang="en-GB" i="1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,  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d>
                                    <m:d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p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d>
                                    <m:d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p>
                        </m:e>
                      </m:nary>
                    </m:oMath>
                  </m:oMathPara>
                </a14:m>
                <a:endParaRPr lang="en-GB" dirty="0"/>
              </a:p>
              <a:p>
                <a:pPr defTabSz="914318">
                  <a:lnSpc>
                    <a:spcPct val="120000"/>
                  </a:lnSpc>
                  <a:spcBef>
                    <a:spcPts val="1000"/>
                  </a:spcBef>
                  <a:buClr>
                    <a:srgbClr val="0177AD"/>
                  </a:buClr>
                </a:pPr>
                <a:endParaRPr lang="en-GB" dirty="0"/>
              </a:p>
              <a:p>
                <a:pPr marL="742915" lvl="1" indent="-285750" defTabSz="914318">
                  <a:lnSpc>
                    <a:spcPct val="120000"/>
                  </a:lnSpc>
                  <a:spcBef>
                    <a:spcPts val="1000"/>
                  </a:spcBef>
                  <a:buClr>
                    <a:srgbClr val="0177AD"/>
                  </a:buClr>
                  <a:buFont typeface="Arial" panose="020B0604020202020204" pitchFamily="34" charset="0"/>
                  <a:buChar char="•"/>
                </a:pPr>
                <a:r>
                  <a:rPr lang="en-GB" dirty="0"/>
                  <a:t>For each state s, all paths through the diamond are conditionally independent and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b="0" i="1" dirty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GB" dirty="0"/>
                  <a:t>are the marginal beliefs already computed upstream</a:t>
                </a:r>
              </a:p>
              <a:p>
                <a:pPr marL="742915" lvl="1" indent="-285750" defTabSz="914318">
                  <a:lnSpc>
                    <a:spcPct val="120000"/>
                  </a:lnSpc>
                  <a:spcBef>
                    <a:spcPts val="1000"/>
                  </a:spcBef>
                  <a:buClr>
                    <a:srgbClr val="0177AD"/>
                  </a:buClr>
                  <a:buFont typeface="Arial" panose="020B0604020202020204" pitchFamily="34" charset="0"/>
                  <a:buChar char="•"/>
                </a:pPr>
                <a:r>
                  <a:rPr lang="en-GB" dirty="0"/>
                  <a:t>Since P(J | s) depends only on the conditioning states, the result is cached as a </a:t>
                </a:r>
                <a:r>
                  <a:rPr lang="en-GB" dirty="0" err="1"/>
                  <a:t>supernode</a:t>
                </a:r>
                <a:r>
                  <a:rPr lang="en-GB" dirty="0"/>
                  <a:t> map:</a:t>
                </a:r>
              </a:p>
              <a:p>
                <a:pPr lvl="1" defTabSz="914318">
                  <a:lnSpc>
                    <a:spcPct val="120000"/>
                  </a:lnSpc>
                  <a:spcBef>
                    <a:spcPts val="1000"/>
                  </a:spcBef>
                  <a:buClr>
                    <a:srgbClr val="0177AD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sepChr m:val="∣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</m: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, 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lit/>
                        </m:rPr>
                        <a:rPr lang="en-GB" i="1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0,1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lit/>
                            </m:rPr>
                            <a:rPr lang="en-GB" i="1"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  </m:t>
                      </m:r>
                    </m:oMath>
                  </m:oMathPara>
                </a14:m>
                <a:endParaRPr lang="en-GB" dirty="0"/>
              </a:p>
              <a:p>
                <a:pPr marL="742915" lvl="1" indent="-285750" defTabSz="914318">
                  <a:lnSpc>
                    <a:spcPct val="120000"/>
                  </a:lnSpc>
                  <a:spcBef>
                    <a:spcPts val="1000"/>
                  </a:spcBef>
                  <a:buClr>
                    <a:srgbClr val="0177AD"/>
                  </a:buClr>
                  <a:buFont typeface="Arial" panose="020B0604020202020204" pitchFamily="34" charset="0"/>
                  <a:buChar char="•"/>
                </a:pPr>
                <a:r>
                  <a:rPr lang="en-GB" dirty="0"/>
                  <a:t>Each diamond discovered is resolved exactly once and its super node is reused whenever the same diamond is discovered downstream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C449A3D-EB6F-0A2C-E047-4BA2704E33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1701" y="990923"/>
                <a:ext cx="10564091" cy="5018425"/>
              </a:xfrm>
              <a:prstGeom prst="rect">
                <a:avLst/>
              </a:prstGeom>
              <a:blipFill>
                <a:blip r:embed="rId2"/>
                <a:stretch>
                  <a:fillRect l="-519" t="-122" r="-5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509" y="124432"/>
            <a:ext cx="10573801" cy="763500"/>
          </a:xfrm>
        </p:spPr>
        <p:txBody>
          <a:bodyPr/>
          <a:lstStyle/>
          <a:p>
            <a:pPr algn="r"/>
            <a:r>
              <a:rPr lang="en-GB" dirty="0"/>
              <a:t>Reachability : Handling Uncertainty</a:t>
            </a:r>
            <a:endParaRPr lang="en-GB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28</a:t>
            </a:fld>
            <a:endParaRPr lang="en-GB"/>
          </a:p>
        </p:txBody>
      </p:sp>
      <p:sp>
        <p:nvSpPr>
          <p:cNvPr id="118" name="Content Placeholder 118"/>
          <p:cNvSpPr txBox="1">
            <a:spLocks/>
          </p:cNvSpPr>
          <p:nvPr/>
        </p:nvSpPr>
        <p:spPr>
          <a:xfrm>
            <a:off x="1151701" y="1700000"/>
            <a:ext cx="6287995" cy="399246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defTabSz="914318">
              <a:lnSpc>
                <a:spcPct val="120000"/>
              </a:lnSpc>
              <a:spcBef>
                <a:spcPts val="1000"/>
              </a:spcBef>
              <a:buClr>
                <a:srgbClr val="0177AD"/>
              </a:buClr>
            </a:pPr>
            <a:r>
              <a:rPr lang="en-GB" dirty="0"/>
              <a:t>The same propagation engine is parametrised to handle three interchangeable probability representations:</a:t>
            </a:r>
          </a:p>
          <a:p>
            <a:pPr marL="742915" lvl="1" indent="-285750" defTabSz="914318">
              <a:lnSpc>
                <a:spcPct val="120000"/>
              </a:lnSpc>
              <a:spcBef>
                <a:spcPts val="1000"/>
              </a:spcBef>
              <a:buClr>
                <a:srgbClr val="0177AD"/>
              </a:buClr>
              <a:buFont typeface="Arial" panose="020B0604020202020204" pitchFamily="34" charset="0"/>
              <a:buChar char="•"/>
            </a:pPr>
            <a:r>
              <a:rPr lang="en-GB" b="1" dirty="0"/>
              <a:t>Float64: </a:t>
            </a:r>
            <a:r>
              <a:rPr lang="en-GB" dirty="0"/>
              <a:t>single value, fastest</a:t>
            </a:r>
          </a:p>
          <a:p>
            <a:pPr marL="742915" lvl="1" indent="-285750" defTabSz="914318">
              <a:lnSpc>
                <a:spcPct val="120000"/>
              </a:lnSpc>
              <a:spcBef>
                <a:spcPts val="1000"/>
              </a:spcBef>
              <a:buClr>
                <a:srgbClr val="0177AD"/>
              </a:buClr>
              <a:buFont typeface="Arial" panose="020B0604020202020204" pitchFamily="34" charset="0"/>
              <a:buChar char="•"/>
            </a:pPr>
            <a:r>
              <a:rPr lang="en-GB" b="1" dirty="0"/>
              <a:t>Interval: </a:t>
            </a:r>
            <a:r>
              <a:rPr lang="en-GB" dirty="0"/>
              <a:t>[pmin, pmax], guaranteed bounds</a:t>
            </a:r>
          </a:p>
          <a:p>
            <a:pPr marL="742915" lvl="1" indent="-285750" defTabSz="914318">
              <a:lnSpc>
                <a:spcPct val="120000"/>
              </a:lnSpc>
              <a:spcBef>
                <a:spcPts val="1000"/>
              </a:spcBef>
              <a:buClr>
                <a:srgbClr val="0177AD"/>
              </a:buClr>
              <a:buFont typeface="Arial" panose="020B0604020202020204" pitchFamily="34" charset="0"/>
              <a:buChar char="•"/>
            </a:pPr>
            <a:r>
              <a:rPr lang="en-GB" b="1" dirty="0"/>
              <a:t>p-box:</a:t>
            </a:r>
            <a:r>
              <a:rPr lang="en-GB" dirty="0"/>
              <a:t>  full distribution envelope</a:t>
            </a:r>
          </a:p>
          <a:p>
            <a:pPr defTabSz="914318">
              <a:lnSpc>
                <a:spcPct val="120000"/>
              </a:lnSpc>
              <a:spcBef>
                <a:spcPts val="1000"/>
              </a:spcBef>
              <a:buClr>
                <a:srgbClr val="0177AD"/>
              </a:buClr>
            </a:pPr>
            <a:r>
              <a:rPr lang="en-GB" dirty="0"/>
              <a:t>The propagation logic is identical; only the arithmetic representation changes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2CAE33-16C7-DA89-09A0-0D5D8CACF1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7723" y="2587158"/>
            <a:ext cx="5042705" cy="2448079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509" y="124432"/>
            <a:ext cx="10573801" cy="763500"/>
          </a:xfrm>
        </p:spPr>
        <p:txBody>
          <a:bodyPr/>
          <a:lstStyle/>
          <a:p>
            <a:pPr algn="r"/>
            <a:r>
              <a:rPr lang="en-GB" dirty="0"/>
              <a:t>Computational Complexity</a:t>
            </a:r>
            <a:endParaRPr lang="en-GB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29</a:t>
            </a:fld>
            <a:endParaRPr lang="en-GB"/>
          </a:p>
        </p:txBody>
      </p:sp>
      <p:sp>
        <p:nvSpPr>
          <p:cNvPr id="120" name="Content Placeholder 120"/>
          <p:cNvSpPr txBox="1">
            <a:spLocks/>
          </p:cNvSpPr>
          <p:nvPr/>
        </p:nvSpPr>
        <p:spPr>
          <a:xfrm>
            <a:off x="1639207" y="4854544"/>
            <a:ext cx="10904246" cy="500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marL="0" indent="0">
              <a:buNone/>
            </a:pPr>
            <a:r>
              <a:rPr lang="en-GB" sz="1400" i="1" dirty="0"/>
              <a:t>*Caching converts multiplicative nesting cost into an additive sum. Cost driver is nesting depth × |C|, not V or E.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7025E94-3692-51F6-E190-71BE8A1539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9327480"/>
              </p:ext>
            </p:extLst>
          </p:nvPr>
        </p:nvGraphicFramePr>
        <p:xfrm>
          <a:off x="1355271" y="1768776"/>
          <a:ext cx="10380888" cy="301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0296">
                  <a:extLst>
                    <a:ext uri="{9D8B030D-6E8A-4147-A177-3AD203B41FA5}">
                      <a16:colId xmlns:a16="http://schemas.microsoft.com/office/drawing/2014/main" val="189584370"/>
                    </a:ext>
                  </a:extLst>
                </a:gridCol>
                <a:gridCol w="3460296">
                  <a:extLst>
                    <a:ext uri="{9D8B030D-6E8A-4147-A177-3AD203B41FA5}">
                      <a16:colId xmlns:a16="http://schemas.microsoft.com/office/drawing/2014/main" val="3248598920"/>
                    </a:ext>
                  </a:extLst>
                </a:gridCol>
                <a:gridCol w="3460296">
                  <a:extLst>
                    <a:ext uri="{9D8B030D-6E8A-4147-A177-3AD203B41FA5}">
                      <a16:colId xmlns:a16="http://schemas.microsoft.com/office/drawing/2014/main" val="41511903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effectLst/>
                        </a:rPr>
                        <a:t>Update Type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effectLst/>
                        </a:rPr>
                        <a:t>Complexity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effectLst/>
                        </a:rPr>
                        <a:t>Notes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36209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effectLst/>
                        </a:rPr>
                        <a:t>Preprocessing / decomposition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effectLst/>
                        </a:rPr>
                        <a:t>O(V · E)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effectLst/>
                        </a:rPr>
                        <a:t>One-time; ~50 ms regardless of network size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44466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effectLst/>
                        </a:rPr>
                        <a:t>Independent join, k parents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effectLst/>
                        </a:rPr>
                        <a:t>O(k) per node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effectLst/>
                        </a:rPr>
                        <a:t>Product formula; no shared ancestry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068557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effectLst/>
                        </a:rPr>
                        <a:t>Single diamond, |C| cond. nodes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effectLst/>
                        </a:rPr>
                        <a:t>O(2^{|C|} · |D|)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effectLst/>
                        </a:rPr>
                        <a:t>Per unique diamond; |D| = subgraph size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99452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effectLst/>
                        </a:rPr>
                        <a:t>Nested diamonds — with caching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effectLst/>
                        </a:rPr>
                        <a:t>O(Σᵢ 2^{|Cᵢ|} · |Dᵢ|)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effectLst/>
                        </a:rPr>
                        <a:t>Sum over unique diamonds only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59491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effectLst/>
                        </a:rPr>
                        <a:t>Nested diamonds — without caching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effectLst/>
                        </a:rPr>
                        <a:t>O(2^{Σ |Cᵢ|} · V)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effectLst/>
                        </a:rPr>
                        <a:t>Exponential in total conditioning nodes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932539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1708D-B68C-DA17-ABF0-39B9DD597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F3A65-0138-98BD-781D-092683B4A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4509" y="124432"/>
            <a:ext cx="10573801" cy="763500"/>
          </a:xfrm>
        </p:spPr>
        <p:txBody>
          <a:bodyPr/>
          <a:lstStyle/>
          <a:p>
            <a:pPr algn="r"/>
            <a:r>
              <a:rPr lang="en-GB" dirty="0"/>
              <a:t>Reachability : </a:t>
            </a:r>
            <a:r>
              <a:rPr lang="en-GB" sz="4000" b="1" dirty="0"/>
              <a:t>Case Study</a:t>
            </a:r>
            <a:endParaRPr lang="en-GB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EBF478-6D2A-595F-2F29-BBA27620D5F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30</a:t>
            </a:fld>
            <a:endParaRPr lang="en-GB"/>
          </a:p>
        </p:txBody>
      </p:sp>
      <p:sp>
        <p:nvSpPr>
          <p:cNvPr id="120" name="Content Placeholder 120">
            <a:extLst>
              <a:ext uri="{FF2B5EF4-FFF2-40B4-BE49-F238E27FC236}">
                <a16:creationId xmlns:a16="http://schemas.microsoft.com/office/drawing/2014/main" id="{74244273-E9EF-1318-0D45-DD50F229CEC5}"/>
              </a:ext>
            </a:extLst>
          </p:cNvPr>
          <p:cNvSpPr txBox="1">
            <a:spLocks/>
          </p:cNvSpPr>
          <p:nvPr/>
        </p:nvSpPr>
        <p:spPr>
          <a:xfrm>
            <a:off x="1289286" y="1653362"/>
            <a:ext cx="10904246" cy="450457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marL="285750" indent="-285750" defTabSz="914318">
              <a:lnSpc>
                <a:spcPct val="150000"/>
              </a:lnSpc>
              <a:spcBef>
                <a:spcPts val="1000"/>
              </a:spcBef>
              <a:buClr>
                <a:srgbClr val="0177AD"/>
              </a:buClr>
              <a:buFont typeface="Arial" panose="020B0604020202020204" pitchFamily="34" charset="0"/>
              <a:buChar char="•"/>
            </a:pPr>
            <a:r>
              <a:rPr lang="en-GB" b="1" dirty="0"/>
              <a:t>Comparing reachability results across 8 networks of varying sizes</a:t>
            </a:r>
          </a:p>
          <a:p>
            <a:pPr marL="742915" lvl="1" indent="-285750" defTabSz="914318">
              <a:lnSpc>
                <a:spcPct val="150000"/>
              </a:lnSpc>
              <a:spcBef>
                <a:spcPts val="1000"/>
              </a:spcBef>
              <a:buClr>
                <a:srgbClr val="0177AD"/>
              </a:buClr>
              <a:buFont typeface="Arial" panose="020B0604020202020204" pitchFamily="34" charset="0"/>
              <a:buChar char="•"/>
            </a:pPr>
            <a:r>
              <a:rPr lang="en-GB" b="1" dirty="0"/>
              <a:t>(1) </a:t>
            </a:r>
            <a:r>
              <a:rPr lang="en-GB" dirty="0"/>
              <a:t>Computation time relative to diamond nesting depth and conditioning-set width |C|</a:t>
            </a:r>
          </a:p>
          <a:p>
            <a:pPr marL="742915" lvl="1" indent="-285750" defTabSz="914318">
              <a:lnSpc>
                <a:spcPct val="150000"/>
              </a:lnSpc>
              <a:spcBef>
                <a:spcPts val="1000"/>
              </a:spcBef>
              <a:buClr>
                <a:srgbClr val="0177AD"/>
              </a:buClr>
              <a:buFont typeface="Arial" panose="020B0604020202020204" pitchFamily="34" charset="0"/>
              <a:buChar char="•"/>
            </a:pPr>
            <a:r>
              <a:rPr lang="en-GB" b="1" dirty="0"/>
              <a:t>(2) </a:t>
            </a:r>
            <a:r>
              <a:rPr lang="en-GB" dirty="0"/>
              <a:t>Accuracy and timing comparison to Monte Carlo</a:t>
            </a:r>
          </a:p>
          <a:p>
            <a:pPr marL="285750" indent="-285750" defTabSz="914318">
              <a:lnSpc>
                <a:spcPct val="150000"/>
              </a:lnSpc>
              <a:spcBef>
                <a:spcPts val="1000"/>
              </a:spcBef>
              <a:buClr>
                <a:srgbClr val="0177AD"/>
              </a:buClr>
              <a:buFont typeface="Arial" panose="020B0604020202020204" pitchFamily="34" charset="0"/>
              <a:buChar char="•"/>
            </a:pPr>
            <a:r>
              <a:rPr lang="en-GB" b="1" dirty="0"/>
              <a:t>What is computed: </a:t>
            </a:r>
            <a:r>
              <a:rPr lang="en-GB" dirty="0"/>
              <a:t>b(v)  for each node in the network, the probability that the node stays reachable from at least one source, given the node priors and edge probabilities</a:t>
            </a:r>
          </a:p>
          <a:p>
            <a:pPr marL="285750" indent="-285750" defTabSz="914318">
              <a:lnSpc>
                <a:spcPct val="150000"/>
              </a:lnSpc>
              <a:spcBef>
                <a:spcPts val="1000"/>
              </a:spcBef>
              <a:buClr>
                <a:srgbClr val="0177AD"/>
              </a:buClr>
              <a:buFont typeface="Arial" panose="020B0604020202020204" pitchFamily="34" charset="0"/>
              <a:buChar char="•"/>
            </a:pPr>
            <a:r>
              <a:rPr lang="en-GB" dirty="0"/>
              <a:t>8 networks spanning 36–1,041 nodes. Two real-world benchmarks and six Pareto-optimal drone logistics configurations </a:t>
            </a:r>
          </a:p>
          <a:p>
            <a:pPr marL="285750" indent="-285750" defTabSz="914318">
              <a:lnSpc>
                <a:spcPct val="150000"/>
              </a:lnSpc>
              <a:spcBef>
                <a:spcPts val="1000"/>
              </a:spcBef>
              <a:buClr>
                <a:srgbClr val="0177AD"/>
              </a:buClr>
              <a:buFont typeface="Arial" panose="020B0604020202020204" pitchFamily="34" charset="0"/>
              <a:buChar char="•"/>
            </a:pPr>
            <a:r>
              <a:rPr lang="en-GB" dirty="0"/>
              <a:t>Every network measured the same way: structure first (diamonds, depth, |C|), then propagation runtime, then accuracy vs Monte Carlo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560E36-3F53-3586-A8ED-19D5C86627D6}"/>
              </a:ext>
            </a:extLst>
          </p:cNvPr>
          <p:cNvSpPr txBox="1"/>
          <p:nvPr/>
        </p:nvSpPr>
        <p:spPr>
          <a:xfrm>
            <a:off x="1071376" y="1070592"/>
            <a:ext cx="61068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/>
              <a:t>Objective:</a:t>
            </a:r>
          </a:p>
        </p:txBody>
      </p:sp>
    </p:spTree>
    <p:extLst>
      <p:ext uri="{BB962C8B-B14F-4D97-AF65-F5344CB8AC3E}">
        <p14:creationId xmlns:p14="http://schemas.microsoft.com/office/powerpoint/2010/main" val="7018670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53BBF-0910-4BA3-75E1-7ED2E5891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671C2-0C9E-2EA1-80B3-51C12DB68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4509" y="124432"/>
            <a:ext cx="10573801" cy="763500"/>
          </a:xfrm>
        </p:spPr>
        <p:txBody>
          <a:bodyPr/>
          <a:lstStyle/>
          <a:p>
            <a:pPr algn="r"/>
            <a:r>
              <a:rPr lang="en-GB" dirty="0"/>
              <a:t>Reachability : </a:t>
            </a:r>
            <a:r>
              <a:rPr lang="en-GB" sz="4000" b="1" dirty="0"/>
              <a:t>Case Study</a:t>
            </a:r>
            <a:endParaRPr lang="en-GB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AFA63D-B60C-3FB1-9494-58C1D62216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31</a:t>
            </a:fld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4A3D6AA-B220-D15B-F1EE-7DFB7182BA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0000" y="2076208"/>
            <a:ext cx="6850000" cy="3997583"/>
          </a:xfrm>
          <a:prstGeom prst="rect">
            <a:avLst/>
          </a:prstGeom>
        </p:spPr>
      </p:pic>
      <p:sp>
        <p:nvSpPr>
          <p:cNvPr id="900" name="Network Data Strip"/>
          <p:cNvSpPr txBox="1"/>
          <p:nvPr/>
        </p:nvSpPr>
        <p:spPr>
          <a:xfrm>
            <a:off x="1220236" y="1450000"/>
            <a:ext cx="3500000" cy="490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rPr lang="en-GB" sz="2400" b="1" dirty="0"/>
              <a:t>MUNIN</a:t>
            </a:r>
          </a:p>
          <a:p>
            <a:pPr>
              <a:spcBef>
                <a:spcPts val="400"/>
              </a:spcBef>
              <a:buNone/>
            </a:pPr>
            <a:r>
              <a:rPr lang="en-GB" sz="1400" i="1" dirty="0">
                <a:solidFill>
                  <a:srgbClr val="0177AD"/>
                </a:solidFill>
              </a:rPr>
              <a:t>Diagnostic Bayesian-network benchmark</a:t>
            </a:r>
          </a:p>
          <a:p>
            <a:pPr>
              <a:spcBef>
                <a:spcPts val="1200"/>
              </a:spcBef>
              <a:buNone/>
            </a:pPr>
            <a:r>
              <a:rPr lang="en-GB" sz="1300" dirty="0"/>
              <a:t>Largest network in the set: broad, shallow diamonds (depth 3) despite 1,041 nodes.</a:t>
            </a:r>
          </a:p>
          <a:p>
            <a:pPr>
              <a:spcBef>
                <a:spcPts val="1400"/>
              </a:spcBef>
              <a:buNone/>
            </a:pPr>
            <a:r>
              <a:rPr lang="en-GB" sz="1300" b="1" dirty="0"/>
              <a:t>1,041 nodes · 1,397 edges</a:t>
            </a:r>
          </a:p>
          <a:p>
            <a:pPr>
              <a:spcBef>
                <a:spcPts val="400"/>
              </a:spcBef>
              <a:buNone/>
            </a:pPr>
            <a:r>
              <a:rPr lang="en-GB" sz="1300" dirty="0"/>
              <a:t>259 sources → 183 sinks</a:t>
            </a:r>
          </a:p>
          <a:p>
            <a:pPr>
              <a:spcBef>
                <a:spcPts val="400"/>
              </a:spcBef>
              <a:buNone/>
            </a:pPr>
            <a:r>
              <a:rPr lang="en-GB" sz="1300" dirty="0"/>
              <a:t>Max depth 3 · Max |C| 8</a:t>
            </a:r>
          </a:p>
          <a:p>
            <a:pPr>
              <a:spcBef>
                <a:spcPts val="400"/>
              </a:spcBef>
              <a:buNone/>
            </a:pPr>
            <a:r>
              <a:rPr lang="en-GB" sz="1300" dirty="0"/>
              <a:t>IPA: 2.843s total (216 diamonds)</a:t>
            </a:r>
          </a:p>
          <a:p>
            <a:pPr>
              <a:spcBef>
                <a:spcPts val="1400"/>
              </a:spcBef>
              <a:buNone/>
            </a:pPr>
            <a:r>
              <a:rPr lang="en-GB" sz="1050" b="1" dirty="0">
                <a:solidFill>
                  <a:srgbClr val="5B8C1A"/>
                </a:solidFill>
              </a:rPr>
              <a:t>● </a:t>
            </a:r>
            <a:r>
              <a:rPr lang="en-GB" sz="1050" dirty="0"/>
              <a:t>source nodes    </a:t>
            </a:r>
            <a:r>
              <a:rPr lang="en-GB" sz="1050" b="1" dirty="0">
                <a:solidFill>
                  <a:srgbClr val="0177AD"/>
                </a:solidFill>
              </a:rPr>
              <a:t>● </a:t>
            </a:r>
            <a:r>
              <a:rPr lang="en-GB" sz="1050" dirty="0"/>
              <a:t>diamond/join nodes    </a:t>
            </a:r>
            <a:r>
              <a:rPr lang="en-GB" sz="1050" b="1" dirty="0">
                <a:solidFill>
                  <a:srgbClr val="9B9B9B"/>
                </a:solidFill>
              </a:rPr>
              <a:t>● </a:t>
            </a:r>
            <a:r>
              <a:rPr lang="en-GB" sz="1050" dirty="0"/>
              <a:t>other nodes</a:t>
            </a:r>
          </a:p>
        </p:txBody>
      </p:sp>
      <p:sp>
        <p:nvSpPr>
          <p:cNvPr id="901" name="Citation"/>
          <p:cNvSpPr txBox="1"/>
          <p:nvPr/>
        </p:nvSpPr>
        <p:spPr>
          <a:xfrm>
            <a:off x="1008314" y="6470000"/>
            <a:ext cx="11135746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i="1" dirty="0">
                <a:effectLst/>
              </a:rPr>
              <a:t>[1] S. Andreassen, F. V. Jensen, S. K. Andersen, B. Falck, U. Kjærulff, M. Woldbye, A. R. Sørensen, A. Rosenfalck, and F. Jensen. MUNIN — an Expert EMG Assistant. In Computer-Aided Electromyography and Expert Systems, Chapter 21. Elsevier (North-Holland), 1989. Network data: bnlearn.com/bnrepository/discrete-massive.html#munin</a:t>
            </a:r>
          </a:p>
        </p:txBody>
      </p:sp>
    </p:spTree>
    <p:extLst>
      <p:ext uri="{BB962C8B-B14F-4D97-AF65-F5344CB8AC3E}">
        <p14:creationId xmlns:p14="http://schemas.microsoft.com/office/powerpoint/2010/main" val="33521502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02A80-84D3-5630-F93A-C00964C0D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9E35F-7559-5005-DF6E-8EFCEC2FF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4509" y="124432"/>
            <a:ext cx="10573801" cy="763500"/>
          </a:xfrm>
        </p:spPr>
        <p:txBody>
          <a:bodyPr/>
          <a:lstStyle/>
          <a:p>
            <a:pPr algn="r"/>
            <a:r>
              <a:rPr lang="en-GB" dirty="0"/>
              <a:t>Reachability : </a:t>
            </a:r>
            <a:r>
              <a:rPr lang="en-GB" sz="4000" b="1" dirty="0"/>
              <a:t>Case Study</a:t>
            </a:r>
            <a:endParaRPr lang="en-GB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34C40C-4E55-568F-F538-9A1C5A762D8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32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813224-35C5-CEA9-9708-3538AD4FAB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1225" y="1850000"/>
            <a:ext cx="5827549" cy="4450000"/>
          </a:xfrm>
          <a:prstGeom prst="rect">
            <a:avLst/>
          </a:prstGeom>
        </p:spPr>
      </p:pic>
      <p:sp>
        <p:nvSpPr>
          <p:cNvPr id="900" name="Network Data Strip"/>
          <p:cNvSpPr txBox="1"/>
          <p:nvPr/>
        </p:nvSpPr>
        <p:spPr>
          <a:xfrm>
            <a:off x="1220236" y="1450000"/>
            <a:ext cx="3500000" cy="490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rPr lang="en-GB" sz="2400" b="1" dirty="0"/>
              <a:t>METRO</a:t>
            </a:r>
          </a:p>
          <a:p>
            <a:pPr>
              <a:spcBef>
                <a:spcPts val="400"/>
              </a:spcBef>
              <a:buNone/>
            </a:pPr>
            <a:r>
              <a:rPr lang="en-GB" sz="1400" i="1" dirty="0">
                <a:solidFill>
                  <a:srgbClr val="0177AD"/>
                </a:solidFill>
              </a:rPr>
              <a:t>Berlin transit network (single-source DAG)</a:t>
            </a:r>
          </a:p>
          <a:p>
            <a:pPr>
              <a:spcBef>
                <a:spcPts val="1200"/>
              </a:spcBef>
              <a:buNone/>
            </a:pPr>
            <a:r>
              <a:rPr lang="en-GB" sz="1300" dirty="0"/>
              <a:t>Real transit network converted to a DAG: all edges are oriented outward from the central hub.</a:t>
            </a:r>
          </a:p>
          <a:p>
            <a:pPr>
              <a:spcBef>
                <a:spcPts val="600"/>
              </a:spcBef>
              <a:buNone/>
            </a:pPr>
            <a:r>
              <a:rPr lang="en-GB" sz="1200" i="1" dirty="0"/>
              <a:t>Hub and transfer connections are treated as the most reliable links; ordinary station-to-station hops are somewhat more failure-prone.</a:t>
            </a:r>
          </a:p>
          <a:p>
            <a:pPr>
              <a:spcBef>
                <a:spcPts val="1400"/>
              </a:spcBef>
              <a:buNone/>
            </a:pPr>
            <a:r>
              <a:rPr lang="en-GB" sz="1300" b="1" dirty="0"/>
              <a:t>306 nodes · 350 edges</a:t>
            </a:r>
          </a:p>
          <a:p>
            <a:pPr>
              <a:spcBef>
                <a:spcPts val="400"/>
              </a:spcBef>
              <a:buNone/>
            </a:pPr>
            <a:r>
              <a:rPr lang="en-GB" sz="1300" dirty="0"/>
              <a:t>1 source → 61 sinks</a:t>
            </a:r>
          </a:p>
          <a:p>
            <a:pPr>
              <a:spcBef>
                <a:spcPts val="400"/>
              </a:spcBef>
              <a:buNone/>
            </a:pPr>
            <a:r>
              <a:rPr lang="en-GB" sz="1300" dirty="0"/>
              <a:t>Max depth 5 · Max |C| 2</a:t>
            </a:r>
          </a:p>
          <a:p>
            <a:pPr>
              <a:spcBef>
                <a:spcPts val="400"/>
              </a:spcBef>
              <a:buNone/>
            </a:pPr>
            <a:r>
              <a:rPr lang="en-GB" sz="1300" dirty="0"/>
              <a:t>IPA: 0.141s total (99 diamonds)</a:t>
            </a:r>
          </a:p>
          <a:p>
            <a:pPr>
              <a:spcBef>
                <a:spcPts val="1400"/>
              </a:spcBef>
              <a:buNone/>
            </a:pPr>
            <a:r>
              <a:rPr lang="en-GB" sz="1050" b="1" dirty="0">
                <a:solidFill>
                  <a:srgbClr val="5B8C1A"/>
                </a:solidFill>
              </a:rPr>
              <a:t>● </a:t>
            </a:r>
            <a:r>
              <a:rPr lang="en-GB" sz="1050" dirty="0"/>
              <a:t>source nodes    </a:t>
            </a:r>
            <a:r>
              <a:rPr lang="en-GB" sz="1050" b="1" dirty="0">
                <a:solidFill>
                  <a:srgbClr val="0177AD"/>
                </a:solidFill>
              </a:rPr>
              <a:t>● </a:t>
            </a:r>
            <a:r>
              <a:rPr lang="en-GB" sz="1050" dirty="0"/>
              <a:t>diamond/join nodes    </a:t>
            </a:r>
            <a:r>
              <a:rPr lang="en-GB" sz="1050" b="1" dirty="0">
                <a:solidFill>
                  <a:srgbClr val="9B9B9B"/>
                </a:solidFill>
              </a:rPr>
              <a:t>● </a:t>
            </a:r>
            <a:r>
              <a:rPr lang="en-GB" sz="1050" dirty="0"/>
              <a:t>other nodes</a:t>
            </a:r>
          </a:p>
        </p:txBody>
      </p:sp>
      <p:sp>
        <p:nvSpPr>
          <p:cNvPr id="901" name="Citation"/>
          <p:cNvSpPr txBox="1"/>
          <p:nvPr/>
        </p:nvSpPr>
        <p:spPr>
          <a:xfrm>
            <a:off x="1008314" y="6470000"/>
            <a:ext cx="11135746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i="1" dirty="0">
                <a:effectLst/>
              </a:rPr>
              <a:t>[1] J. Salomon, M. Broggi, S. Kruse, S. Weber, and M. Beer, ‘Resilience Decision-Making for Complex Systems’, ASCE-ASME J Risk and Uncert in Engrg Sys Part B Mech Engrg, vol. 6, no. 020901, Mar. 2020. [2] J. Behrensdorf, T.-E. Regenhardt, M. Broggi, and M. Beer, ‘Numerically efficient computation of the survival signature for the reliability analysis of large networks’, Reliability Engineering &amp; System Safety, vol. 216, p. 107935, 2021.</a:t>
            </a:r>
          </a:p>
        </p:txBody>
      </p:sp>
    </p:spTree>
    <p:extLst>
      <p:ext uri="{BB962C8B-B14F-4D97-AF65-F5344CB8AC3E}">
        <p14:creationId xmlns:p14="http://schemas.microsoft.com/office/powerpoint/2010/main" val="9455650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D85AD-A424-D4E0-4521-FC35DC52B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DACB4-1068-C8F5-C878-A5B8A13C5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4509" y="124432"/>
            <a:ext cx="10573801" cy="763500"/>
          </a:xfrm>
        </p:spPr>
        <p:txBody>
          <a:bodyPr/>
          <a:lstStyle/>
          <a:p>
            <a:pPr algn="r"/>
            <a:r>
              <a:rPr lang="en-GB" dirty="0"/>
              <a:t>Reachability : </a:t>
            </a:r>
            <a:r>
              <a:rPr lang="en-GB" sz="4000" b="1" dirty="0"/>
              <a:t>Case Study</a:t>
            </a:r>
            <a:endParaRPr lang="en-GB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3026C8-2674-1826-A0E3-3D89C47C20C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33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A511AA-AA53-9FA3-6886-5340BE02BC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0000" y="2968354"/>
            <a:ext cx="6850000" cy="2213292"/>
          </a:xfrm>
          <a:prstGeom prst="rect">
            <a:avLst/>
          </a:prstGeom>
        </p:spPr>
      </p:pic>
      <p:sp>
        <p:nvSpPr>
          <p:cNvPr id="900" name="Network Data Strip"/>
          <p:cNvSpPr txBox="1"/>
          <p:nvPr/>
        </p:nvSpPr>
        <p:spPr>
          <a:xfrm>
            <a:off x="1220236" y="1450000"/>
            <a:ext cx="3500000" cy="490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rPr lang="en-GB" sz="2400" b="1" dirty="0"/>
              <a:t>Pareto Point 1</a:t>
            </a:r>
          </a:p>
          <a:p>
            <a:pPr>
              <a:spcBef>
                <a:spcPts val="400"/>
              </a:spcBef>
              <a:buNone/>
            </a:pPr>
            <a:r>
              <a:rPr lang="en-GB" sz="1400" i="1" dirty="0">
                <a:solidFill>
                  <a:srgbClr val="0177AD"/>
                </a:solidFill>
              </a:rPr>
              <a:t>High Resilience ( Fixed-Wing Heavy)</a:t>
            </a:r>
          </a:p>
          <a:p>
            <a:pPr>
              <a:spcBef>
                <a:spcPts val="1200"/>
              </a:spcBef>
              <a:buNone/>
            </a:pPr>
            <a:r>
              <a:rPr lang="en-GB" sz="1300" dirty="0"/>
              <a:t>Densest configuration: full airport mesh + local VTOL clusters. Deepest nesting in the set.</a:t>
            </a:r>
          </a:p>
          <a:p>
            <a:pPr>
              <a:spcBef>
                <a:spcPts val="600"/>
              </a:spcBef>
              <a:buNone/>
            </a:pPr>
            <a:r>
              <a:rPr lang="en-GB" sz="1200" i="1" dirty="0"/>
              <a:t>Link reliability decays with distance.</a:t>
            </a:r>
          </a:p>
          <a:p>
            <a:pPr>
              <a:spcBef>
                <a:spcPts val="600"/>
              </a:spcBef>
              <a:buNone/>
            </a:pPr>
            <a:r>
              <a:rPr lang="en-GB" sz="1200" i="1" dirty="0"/>
              <a:t>Shorter VTOL/fixed-wing hops are more dependable than long ones; supply hubs are treated as always available.</a:t>
            </a:r>
          </a:p>
          <a:p>
            <a:pPr>
              <a:spcBef>
                <a:spcPts val="1400"/>
              </a:spcBef>
              <a:buNone/>
            </a:pPr>
            <a:r>
              <a:rPr lang="en-GB" sz="1300" b="1" dirty="0"/>
              <a:t>145 nodes · 327 edges</a:t>
            </a:r>
          </a:p>
          <a:p>
            <a:pPr>
              <a:spcBef>
                <a:spcPts val="400"/>
              </a:spcBef>
              <a:buNone/>
            </a:pPr>
            <a:r>
              <a:rPr lang="en-GB" sz="1300" dirty="0"/>
              <a:t>23 sources → 99 sinks</a:t>
            </a:r>
          </a:p>
          <a:p>
            <a:pPr>
              <a:spcBef>
                <a:spcPts val="400"/>
              </a:spcBef>
              <a:buNone/>
            </a:pPr>
            <a:r>
              <a:rPr lang="en-GB" sz="1300" dirty="0"/>
              <a:t>Max depth 16 · Max |C| 1</a:t>
            </a:r>
          </a:p>
          <a:p>
            <a:pPr>
              <a:spcBef>
                <a:spcPts val="400"/>
              </a:spcBef>
              <a:buNone/>
            </a:pPr>
            <a:r>
              <a:rPr lang="en-GB" sz="1300" dirty="0"/>
              <a:t>IPA: 33.352s total (206 diamonds)</a:t>
            </a:r>
          </a:p>
          <a:p>
            <a:pPr>
              <a:spcBef>
                <a:spcPts val="1400"/>
              </a:spcBef>
              <a:buNone/>
            </a:pPr>
            <a:r>
              <a:rPr lang="en-GB" sz="1050" b="1" dirty="0">
                <a:solidFill>
                  <a:srgbClr val="5B8C1A"/>
                </a:solidFill>
              </a:rPr>
              <a:t>● </a:t>
            </a:r>
            <a:r>
              <a:rPr lang="en-GB" sz="1050" dirty="0"/>
              <a:t>source nodes    </a:t>
            </a:r>
            <a:r>
              <a:rPr lang="en-GB" sz="1050" b="1" dirty="0">
                <a:solidFill>
                  <a:srgbClr val="0177AD"/>
                </a:solidFill>
              </a:rPr>
              <a:t>● </a:t>
            </a:r>
            <a:r>
              <a:rPr lang="en-GB" sz="1050" dirty="0"/>
              <a:t>diamond/join nodes    </a:t>
            </a:r>
            <a:r>
              <a:rPr lang="en-GB" sz="1050" b="1" dirty="0">
                <a:solidFill>
                  <a:srgbClr val="9B9B9B"/>
                </a:solidFill>
              </a:rPr>
              <a:t>● </a:t>
            </a:r>
            <a:r>
              <a:rPr lang="en-GB" sz="1050" dirty="0"/>
              <a:t>other nodes</a:t>
            </a:r>
          </a:p>
        </p:txBody>
      </p:sp>
      <p:sp>
        <p:nvSpPr>
          <p:cNvPr id="901" name="Citation"/>
          <p:cNvSpPr txBox="1"/>
          <p:nvPr/>
        </p:nvSpPr>
        <p:spPr>
          <a:xfrm>
            <a:off x="1008314" y="6470000"/>
            <a:ext cx="11135746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i="1" dirty="0">
                <a:effectLst/>
              </a:rPr>
              <a:t>[1] B. Jones, G. Filippi, T. Basu, B. Parsonage, E. Patelli, C. Maddock, M. Vasile, and M. Fossati, ‘Conceptual design of a medical drone logistics network for Scotland’. Mechanical &amp; Aerospace Engineering and Civil &amp; Environmental Engineering, University of Strathclyde; School of Mathematics, Statistics and Physics, Newcastle University, 2025.</a:t>
            </a:r>
          </a:p>
        </p:txBody>
      </p:sp>
    </p:spTree>
    <p:extLst>
      <p:ext uri="{BB962C8B-B14F-4D97-AF65-F5344CB8AC3E}">
        <p14:creationId xmlns:p14="http://schemas.microsoft.com/office/powerpoint/2010/main" val="6211857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768F8-A0E2-9703-A7F3-0955FA5D3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F8277-6F92-9D39-1047-9802E687F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4509" y="124432"/>
            <a:ext cx="10573801" cy="763500"/>
          </a:xfrm>
        </p:spPr>
        <p:txBody>
          <a:bodyPr/>
          <a:lstStyle/>
          <a:p>
            <a:pPr algn="r"/>
            <a:r>
              <a:rPr lang="en-GB" dirty="0"/>
              <a:t>Reachability : </a:t>
            </a:r>
            <a:r>
              <a:rPr lang="en-GB" sz="4000" b="1" dirty="0"/>
              <a:t>Case Study</a:t>
            </a:r>
            <a:endParaRPr lang="en-GB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11A441-DA99-A8FF-5E50-3E10BCFE808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34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F7FA19-F4A9-213A-726F-59E2D95970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0000" y="3304978"/>
            <a:ext cx="6850000" cy="1540043"/>
          </a:xfrm>
          <a:prstGeom prst="rect">
            <a:avLst/>
          </a:prstGeom>
        </p:spPr>
      </p:pic>
      <p:sp>
        <p:nvSpPr>
          <p:cNvPr id="900" name="Network Data Strip"/>
          <p:cNvSpPr txBox="1"/>
          <p:nvPr/>
        </p:nvSpPr>
        <p:spPr>
          <a:xfrm>
            <a:off x="1220236" y="1450000"/>
            <a:ext cx="3500000" cy="490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rPr lang="en-GB" sz="2400" b="1" dirty="0"/>
              <a:t>Pareto Point 2</a:t>
            </a:r>
          </a:p>
          <a:p>
            <a:pPr>
              <a:spcBef>
                <a:spcPts val="400"/>
              </a:spcBef>
              <a:buNone/>
            </a:pPr>
            <a:r>
              <a:rPr lang="en-GB" sz="1400" i="1" dirty="0">
                <a:solidFill>
                  <a:srgbClr val="0177AD"/>
                </a:solidFill>
              </a:rPr>
              <a:t>High Resilience ( Dense VTOL Mesh)</a:t>
            </a:r>
          </a:p>
          <a:p>
            <a:pPr>
              <a:spcBef>
                <a:spcPts val="1200"/>
              </a:spcBef>
              <a:buNone/>
            </a:pPr>
            <a:r>
              <a:rPr lang="en-GB" sz="1300" dirty="0"/>
              <a:t>Equivalent resilience to Pareto Point 1 via a different topology: dense VTOL mesh, minimal fixed-wing.</a:t>
            </a:r>
          </a:p>
          <a:p>
            <a:pPr>
              <a:spcBef>
                <a:spcPts val="600"/>
              </a:spcBef>
              <a:buNone/>
            </a:pPr>
            <a:r>
              <a:rPr lang="en-GB" sz="1200" i="1" dirty="0"/>
              <a:t>Same distance-decay reliability model as Pareto Point 1, applied to a more decentralised mesh.</a:t>
            </a:r>
          </a:p>
          <a:p>
            <a:pPr>
              <a:spcBef>
                <a:spcPts val="1400"/>
              </a:spcBef>
              <a:buNone/>
            </a:pPr>
            <a:r>
              <a:rPr lang="en-GB" sz="1300" b="1" dirty="0"/>
              <a:t>165 nodes · 280 edges</a:t>
            </a:r>
          </a:p>
          <a:p>
            <a:pPr>
              <a:spcBef>
                <a:spcPts val="400"/>
              </a:spcBef>
              <a:buNone/>
            </a:pPr>
            <a:r>
              <a:rPr lang="en-GB" sz="1300" dirty="0"/>
              <a:t>12 sources → 131 sinks</a:t>
            </a:r>
          </a:p>
          <a:p>
            <a:pPr>
              <a:spcBef>
                <a:spcPts val="400"/>
              </a:spcBef>
              <a:buNone/>
            </a:pPr>
            <a:r>
              <a:rPr lang="en-GB" sz="1300" dirty="0"/>
              <a:t>Max depth 8 · Max |C| 2</a:t>
            </a:r>
          </a:p>
          <a:p>
            <a:pPr>
              <a:spcBef>
                <a:spcPts val="400"/>
              </a:spcBef>
              <a:buNone/>
            </a:pPr>
            <a:r>
              <a:rPr lang="en-GB" sz="1300" dirty="0"/>
              <a:t>IPA: 0.108s total (155 diamonds)</a:t>
            </a:r>
          </a:p>
          <a:p>
            <a:pPr>
              <a:spcBef>
                <a:spcPts val="1400"/>
              </a:spcBef>
              <a:buNone/>
            </a:pPr>
            <a:r>
              <a:rPr lang="en-GB" sz="1050" b="1" dirty="0">
                <a:solidFill>
                  <a:srgbClr val="5B8C1A"/>
                </a:solidFill>
              </a:rPr>
              <a:t>● </a:t>
            </a:r>
            <a:r>
              <a:rPr lang="en-GB" sz="1050" dirty="0"/>
              <a:t>source nodes    </a:t>
            </a:r>
            <a:r>
              <a:rPr lang="en-GB" sz="1050" b="1" dirty="0">
                <a:solidFill>
                  <a:srgbClr val="0177AD"/>
                </a:solidFill>
              </a:rPr>
              <a:t>● </a:t>
            </a:r>
            <a:r>
              <a:rPr lang="en-GB" sz="1050" dirty="0"/>
              <a:t>diamond/join nodes    </a:t>
            </a:r>
            <a:r>
              <a:rPr lang="en-GB" sz="1050" b="1" dirty="0">
                <a:solidFill>
                  <a:srgbClr val="9B9B9B"/>
                </a:solidFill>
              </a:rPr>
              <a:t>● </a:t>
            </a:r>
            <a:r>
              <a:rPr lang="en-GB" sz="1050" dirty="0"/>
              <a:t>other nodes</a:t>
            </a:r>
          </a:p>
        </p:txBody>
      </p:sp>
      <p:sp>
        <p:nvSpPr>
          <p:cNvPr id="901" name="Citation"/>
          <p:cNvSpPr txBox="1"/>
          <p:nvPr/>
        </p:nvSpPr>
        <p:spPr>
          <a:xfrm>
            <a:off x="1008314" y="6470000"/>
            <a:ext cx="11135746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i="1" dirty="0">
                <a:effectLst/>
              </a:rPr>
              <a:t>[1] B. Jones et al., ‘Conceptual design of a medical drone logistics network for Scotland’, 2025 (full citation on Pareto Point 1).</a:t>
            </a:r>
          </a:p>
        </p:txBody>
      </p:sp>
    </p:spTree>
    <p:extLst>
      <p:ext uri="{BB962C8B-B14F-4D97-AF65-F5344CB8AC3E}">
        <p14:creationId xmlns:p14="http://schemas.microsoft.com/office/powerpoint/2010/main" val="2200232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CB255-3905-ED08-40A3-33CA3260B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7C857-FD13-76A8-3783-ED5066071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4509" y="124432"/>
            <a:ext cx="10573801" cy="763500"/>
          </a:xfrm>
        </p:spPr>
        <p:txBody>
          <a:bodyPr/>
          <a:lstStyle/>
          <a:p>
            <a:pPr algn="r"/>
            <a:r>
              <a:rPr lang="en-GB" dirty="0"/>
              <a:t>Reachability : </a:t>
            </a:r>
            <a:r>
              <a:rPr lang="en-GB" sz="4000" b="1" dirty="0"/>
              <a:t>Case Study</a:t>
            </a:r>
            <a:endParaRPr lang="en-GB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73D370-930C-8F60-68FB-33B88FF1544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35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FED933-B022-DA5B-C490-31342BA2BF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0000" y="1984369"/>
            <a:ext cx="6850000" cy="4181261"/>
          </a:xfrm>
          <a:prstGeom prst="rect">
            <a:avLst/>
          </a:prstGeom>
        </p:spPr>
      </p:pic>
      <p:sp>
        <p:nvSpPr>
          <p:cNvPr id="900" name="Network Data Strip"/>
          <p:cNvSpPr txBox="1"/>
          <p:nvPr/>
        </p:nvSpPr>
        <p:spPr>
          <a:xfrm>
            <a:off x="1220236" y="1450000"/>
            <a:ext cx="3500000" cy="490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rPr lang="en-GB" sz="2400" b="1" dirty="0"/>
              <a:t>Pareto Point 3</a:t>
            </a:r>
          </a:p>
          <a:p>
            <a:pPr>
              <a:spcBef>
                <a:spcPts val="400"/>
              </a:spcBef>
              <a:buNone/>
            </a:pPr>
            <a:r>
              <a:rPr lang="en-GB" sz="1400" i="1" dirty="0">
                <a:solidFill>
                  <a:srgbClr val="0177AD"/>
                </a:solidFill>
              </a:rPr>
              <a:t>Medium Resilience (Sparse)</a:t>
            </a:r>
          </a:p>
          <a:p>
            <a:pPr>
              <a:spcBef>
                <a:spcPts val="1200"/>
              </a:spcBef>
              <a:buNone/>
            </a:pPr>
            <a:r>
              <a:rPr lang="en-GB" sz="1300" dirty="0"/>
              <a:t>Cost-reduced design: only major airports activated, no intermediate stations. Still depth 16.</a:t>
            </a:r>
          </a:p>
          <a:p>
            <a:pPr>
              <a:spcBef>
                <a:spcPts val="600"/>
              </a:spcBef>
              <a:buNone/>
            </a:pPr>
            <a:r>
              <a:rPr lang="en-GB" sz="1200" i="1" dirty="0"/>
              <a:t>Fewer active links overall, but the same distance-based reliability pattern as the denser configurations.</a:t>
            </a:r>
          </a:p>
          <a:p>
            <a:pPr>
              <a:spcBef>
                <a:spcPts val="1400"/>
              </a:spcBef>
              <a:buNone/>
            </a:pPr>
            <a:r>
              <a:rPr lang="en-GB" sz="1300" b="1" dirty="0"/>
              <a:t>98 nodes · 223 edges</a:t>
            </a:r>
          </a:p>
          <a:p>
            <a:pPr>
              <a:spcBef>
                <a:spcPts val="400"/>
              </a:spcBef>
              <a:buNone/>
            </a:pPr>
            <a:r>
              <a:rPr lang="en-GB" sz="1300" dirty="0"/>
              <a:t>23 sources → 58 sinks</a:t>
            </a:r>
          </a:p>
          <a:p>
            <a:pPr>
              <a:spcBef>
                <a:spcPts val="400"/>
              </a:spcBef>
              <a:buNone/>
            </a:pPr>
            <a:r>
              <a:rPr lang="en-GB" sz="1300" dirty="0"/>
              <a:t>Max depth 16 · Max |C| 1</a:t>
            </a:r>
          </a:p>
          <a:p>
            <a:pPr>
              <a:spcBef>
                <a:spcPts val="400"/>
              </a:spcBef>
              <a:buNone/>
            </a:pPr>
            <a:r>
              <a:rPr lang="en-GB" sz="1300" dirty="0"/>
              <a:t>IPA: 8.325s total (165 diamonds)</a:t>
            </a:r>
          </a:p>
          <a:p>
            <a:pPr>
              <a:spcBef>
                <a:spcPts val="1400"/>
              </a:spcBef>
              <a:buNone/>
            </a:pPr>
            <a:r>
              <a:rPr lang="en-GB" sz="1050" b="1" dirty="0">
                <a:solidFill>
                  <a:srgbClr val="5B8C1A"/>
                </a:solidFill>
              </a:rPr>
              <a:t>● </a:t>
            </a:r>
            <a:r>
              <a:rPr lang="en-GB" sz="1050" dirty="0"/>
              <a:t>source nodes    </a:t>
            </a:r>
            <a:r>
              <a:rPr lang="en-GB" sz="1050" b="1" dirty="0">
                <a:solidFill>
                  <a:srgbClr val="0177AD"/>
                </a:solidFill>
              </a:rPr>
              <a:t>● </a:t>
            </a:r>
            <a:r>
              <a:rPr lang="en-GB" sz="1050" dirty="0"/>
              <a:t>diamond/join nodes    </a:t>
            </a:r>
            <a:r>
              <a:rPr lang="en-GB" sz="1050" b="1" dirty="0">
                <a:solidFill>
                  <a:srgbClr val="9B9B9B"/>
                </a:solidFill>
              </a:rPr>
              <a:t>● </a:t>
            </a:r>
            <a:r>
              <a:rPr lang="en-GB" sz="1050" dirty="0"/>
              <a:t>other nodes</a:t>
            </a:r>
          </a:p>
        </p:txBody>
      </p:sp>
      <p:sp>
        <p:nvSpPr>
          <p:cNvPr id="901" name="Citation"/>
          <p:cNvSpPr txBox="1"/>
          <p:nvPr/>
        </p:nvSpPr>
        <p:spPr>
          <a:xfrm>
            <a:off x="1008314" y="6470000"/>
            <a:ext cx="11135746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i="1" dirty="0">
                <a:effectLst/>
              </a:rPr>
              <a:t>[1] B. Jones et al., ‘Conceptual design of a medical drone logistics network for Scotland’, 2025 (full citation on Pareto Point 1).</a:t>
            </a:r>
          </a:p>
        </p:txBody>
      </p:sp>
    </p:spTree>
    <p:extLst>
      <p:ext uri="{BB962C8B-B14F-4D97-AF65-F5344CB8AC3E}">
        <p14:creationId xmlns:p14="http://schemas.microsoft.com/office/powerpoint/2010/main" val="21962795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3F228-A13A-0CEE-45C4-68A90EBE6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805FF-7B6F-0B49-5B54-06FC2A9A6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4509" y="124432"/>
            <a:ext cx="10573801" cy="763500"/>
          </a:xfrm>
        </p:spPr>
        <p:txBody>
          <a:bodyPr/>
          <a:lstStyle/>
          <a:p>
            <a:pPr algn="r"/>
            <a:r>
              <a:rPr lang="en-GB" dirty="0"/>
              <a:t>Reachability : </a:t>
            </a:r>
            <a:r>
              <a:rPr lang="en-GB" sz="4000" b="1" dirty="0"/>
              <a:t>Case Study</a:t>
            </a:r>
            <a:endParaRPr lang="en-GB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66474D-A0B5-3745-B69E-42A61609634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36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F83379-937C-1DC6-A5E9-33689AFBF0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0000" y="2613110"/>
            <a:ext cx="6850000" cy="2923780"/>
          </a:xfrm>
          <a:prstGeom prst="rect">
            <a:avLst/>
          </a:prstGeom>
        </p:spPr>
      </p:pic>
      <p:sp>
        <p:nvSpPr>
          <p:cNvPr id="900" name="Network Data Strip"/>
          <p:cNvSpPr txBox="1"/>
          <p:nvPr/>
        </p:nvSpPr>
        <p:spPr>
          <a:xfrm>
            <a:off x="1220236" y="1450000"/>
            <a:ext cx="3500000" cy="490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rPr lang="en-GB" sz="2400" b="1" dirty="0"/>
              <a:t>Pareto Point 4</a:t>
            </a:r>
          </a:p>
          <a:p>
            <a:pPr>
              <a:spcBef>
                <a:spcPts val="400"/>
              </a:spcBef>
              <a:buNone/>
            </a:pPr>
            <a:r>
              <a:rPr lang="en-GB" sz="1400" i="1" dirty="0">
                <a:solidFill>
                  <a:srgbClr val="0177AD"/>
                </a:solidFill>
              </a:rPr>
              <a:t>Low Resilience ( Minimal Tree)</a:t>
            </a:r>
          </a:p>
          <a:p>
            <a:pPr>
              <a:spcBef>
                <a:spcPts val="1200"/>
              </a:spcBef>
              <a:buNone/>
            </a:pPr>
            <a:r>
              <a:rPr lang="en-GB" sz="1300" dirty="0"/>
              <a:t>Minimum-cost extreme: one hub per region, spanning tree only. Zero diamonds.</a:t>
            </a:r>
          </a:p>
          <a:p>
            <a:pPr>
              <a:spcBef>
                <a:spcPts val="600"/>
              </a:spcBef>
              <a:buNone/>
            </a:pPr>
            <a:r>
              <a:rPr lang="en-GB" sz="1200" i="1" dirty="0"/>
              <a:t>No redundant paths exist, so every receiver depends on exactly one chain of links staying up.</a:t>
            </a:r>
          </a:p>
          <a:p>
            <a:pPr>
              <a:spcBef>
                <a:spcPts val="1400"/>
              </a:spcBef>
              <a:buNone/>
            </a:pPr>
            <a:r>
              <a:rPr lang="en-GB" sz="1300" b="1" dirty="0"/>
              <a:t>36 nodes · 28 edges</a:t>
            </a:r>
          </a:p>
          <a:p>
            <a:pPr>
              <a:spcBef>
                <a:spcPts val="400"/>
              </a:spcBef>
              <a:buNone/>
            </a:pPr>
            <a:r>
              <a:rPr lang="en-GB" sz="1300" dirty="0"/>
              <a:t>8 sources → 24 sinks</a:t>
            </a:r>
          </a:p>
          <a:p>
            <a:pPr>
              <a:spcBef>
                <a:spcPts val="400"/>
              </a:spcBef>
              <a:buNone/>
            </a:pPr>
            <a:r>
              <a:rPr lang="en-GB" sz="1300" dirty="0"/>
              <a:t>Max depth 0 · Max |C| 0</a:t>
            </a:r>
          </a:p>
          <a:p>
            <a:pPr>
              <a:spcBef>
                <a:spcPts val="400"/>
              </a:spcBef>
              <a:buNone/>
            </a:pPr>
            <a:r>
              <a:rPr lang="en-GB" sz="1300" dirty="0"/>
              <a:t>IPA: &lt;1 ms (0 diamonds - tree structured)</a:t>
            </a:r>
          </a:p>
          <a:p>
            <a:pPr>
              <a:spcBef>
                <a:spcPts val="1400"/>
              </a:spcBef>
              <a:buNone/>
            </a:pPr>
            <a:r>
              <a:rPr lang="en-GB" sz="1050" b="1" dirty="0">
                <a:solidFill>
                  <a:srgbClr val="5B8C1A"/>
                </a:solidFill>
              </a:rPr>
              <a:t>● </a:t>
            </a:r>
            <a:r>
              <a:rPr lang="en-GB" sz="1050" dirty="0"/>
              <a:t>source nodes    </a:t>
            </a:r>
            <a:r>
              <a:rPr lang="en-GB" sz="1050" b="1" dirty="0">
                <a:solidFill>
                  <a:srgbClr val="0177AD"/>
                </a:solidFill>
              </a:rPr>
              <a:t>● </a:t>
            </a:r>
            <a:r>
              <a:rPr lang="en-GB" sz="1050" dirty="0"/>
              <a:t>diamond/join nodes    </a:t>
            </a:r>
            <a:r>
              <a:rPr lang="en-GB" sz="1050" b="1" dirty="0">
                <a:solidFill>
                  <a:srgbClr val="9B9B9B"/>
                </a:solidFill>
              </a:rPr>
              <a:t>● </a:t>
            </a:r>
            <a:r>
              <a:rPr lang="en-GB" sz="1050" dirty="0"/>
              <a:t>other nodes</a:t>
            </a:r>
          </a:p>
        </p:txBody>
      </p:sp>
      <p:sp>
        <p:nvSpPr>
          <p:cNvPr id="901" name="Citation"/>
          <p:cNvSpPr txBox="1"/>
          <p:nvPr/>
        </p:nvSpPr>
        <p:spPr>
          <a:xfrm>
            <a:off x="1008314" y="6470000"/>
            <a:ext cx="11135746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i="1" dirty="0">
                <a:effectLst/>
              </a:rPr>
              <a:t>[1] B. Jones et al., ‘Conceptual design of a medical drone logistics network for Scotland’, 2025 (full citation on Pareto Point 1).</a:t>
            </a:r>
          </a:p>
        </p:txBody>
      </p:sp>
    </p:spTree>
    <p:extLst>
      <p:ext uri="{BB962C8B-B14F-4D97-AF65-F5344CB8AC3E}">
        <p14:creationId xmlns:p14="http://schemas.microsoft.com/office/powerpoint/2010/main" val="42422062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71DC8-E556-D006-8C37-0C914A35B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57212-6F7E-543B-4505-3ED8DE9D6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4509" y="124432"/>
            <a:ext cx="10573801" cy="763500"/>
          </a:xfrm>
        </p:spPr>
        <p:txBody>
          <a:bodyPr/>
          <a:lstStyle/>
          <a:p>
            <a:pPr algn="r"/>
            <a:r>
              <a:rPr lang="en-GB" dirty="0"/>
              <a:t>Reachability : </a:t>
            </a:r>
            <a:r>
              <a:rPr lang="en-GB" sz="4000" b="1" dirty="0"/>
              <a:t>Case Study</a:t>
            </a:r>
            <a:endParaRPr lang="en-GB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4B393C-28C0-878B-33C7-0210EF79BB6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37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246E62-B9DD-A95D-EFC0-29E1A0E488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0000" y="1865605"/>
            <a:ext cx="6850000" cy="4418789"/>
          </a:xfrm>
          <a:prstGeom prst="rect">
            <a:avLst/>
          </a:prstGeom>
        </p:spPr>
      </p:pic>
      <p:sp>
        <p:nvSpPr>
          <p:cNvPr id="900" name="Network Data Strip"/>
          <p:cNvSpPr txBox="1"/>
          <p:nvPr/>
        </p:nvSpPr>
        <p:spPr>
          <a:xfrm>
            <a:off x="1220236" y="1450000"/>
            <a:ext cx="3500000" cy="490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rPr lang="en-GB" sz="2400" b="1" dirty="0"/>
              <a:t>Pareto Point 5</a:t>
            </a:r>
          </a:p>
          <a:p>
            <a:pPr>
              <a:spcBef>
                <a:spcPts val="400"/>
              </a:spcBef>
              <a:buNone/>
            </a:pPr>
            <a:r>
              <a:rPr lang="en-GB" sz="1400" i="1" dirty="0">
                <a:solidFill>
                  <a:srgbClr val="0177AD"/>
                </a:solidFill>
              </a:rPr>
              <a:t>Medium Resilience (Fixed-Wing Variant)</a:t>
            </a:r>
          </a:p>
          <a:p>
            <a:pPr>
              <a:spcBef>
                <a:spcPts val="1200"/>
              </a:spcBef>
              <a:buNone/>
            </a:pPr>
            <a:r>
              <a:rPr lang="en-GB" sz="1300" dirty="0"/>
              <a:t>Airport-centric variant: full airport mesh, single hub-to-airport links. Depth-16 nesting.</a:t>
            </a:r>
          </a:p>
          <a:p>
            <a:pPr>
              <a:spcBef>
                <a:spcPts val="600"/>
              </a:spcBef>
              <a:buNone/>
            </a:pPr>
            <a:r>
              <a:rPr lang="en-GB" sz="1200" i="1" dirty="0"/>
              <a:t>Reliability is concentrated in the airport backbone; each hub leans on a single feeder link.</a:t>
            </a:r>
          </a:p>
          <a:p>
            <a:pPr>
              <a:spcBef>
                <a:spcPts val="1400"/>
              </a:spcBef>
              <a:buNone/>
            </a:pPr>
            <a:r>
              <a:rPr lang="en-GB" sz="1300" b="1" dirty="0"/>
              <a:t>89 nodes · 214 edges</a:t>
            </a:r>
          </a:p>
          <a:p>
            <a:pPr>
              <a:spcBef>
                <a:spcPts val="400"/>
              </a:spcBef>
              <a:buNone/>
            </a:pPr>
            <a:r>
              <a:rPr lang="en-GB" sz="1300" dirty="0"/>
              <a:t>23 sources → 49 sinks</a:t>
            </a:r>
          </a:p>
          <a:p>
            <a:pPr>
              <a:spcBef>
                <a:spcPts val="400"/>
              </a:spcBef>
              <a:buNone/>
            </a:pPr>
            <a:r>
              <a:rPr lang="en-GB" sz="1300" dirty="0"/>
              <a:t>Max depth 16 · Max |C| 1</a:t>
            </a:r>
          </a:p>
          <a:p>
            <a:pPr>
              <a:spcBef>
                <a:spcPts val="400"/>
              </a:spcBef>
              <a:buNone/>
            </a:pPr>
            <a:r>
              <a:rPr lang="en-GB" sz="1300" dirty="0"/>
              <a:t>IPA: 7.733s total (177 diamonds)</a:t>
            </a:r>
          </a:p>
          <a:p>
            <a:pPr>
              <a:spcBef>
                <a:spcPts val="1400"/>
              </a:spcBef>
              <a:buNone/>
            </a:pPr>
            <a:r>
              <a:rPr lang="en-GB" sz="1050" b="1" dirty="0">
                <a:solidFill>
                  <a:srgbClr val="5B8C1A"/>
                </a:solidFill>
              </a:rPr>
              <a:t>● </a:t>
            </a:r>
            <a:r>
              <a:rPr lang="en-GB" sz="1050" dirty="0"/>
              <a:t>source nodes    </a:t>
            </a:r>
            <a:r>
              <a:rPr lang="en-GB" sz="1050" b="1" dirty="0">
                <a:solidFill>
                  <a:srgbClr val="0177AD"/>
                </a:solidFill>
              </a:rPr>
              <a:t>● </a:t>
            </a:r>
            <a:r>
              <a:rPr lang="en-GB" sz="1050" dirty="0"/>
              <a:t>diamond/join nodes    </a:t>
            </a:r>
            <a:r>
              <a:rPr lang="en-GB" sz="1050" b="1" dirty="0">
                <a:solidFill>
                  <a:srgbClr val="9B9B9B"/>
                </a:solidFill>
              </a:rPr>
              <a:t>● </a:t>
            </a:r>
            <a:r>
              <a:rPr lang="en-GB" sz="1050" dirty="0"/>
              <a:t>other nodes</a:t>
            </a:r>
          </a:p>
        </p:txBody>
      </p:sp>
      <p:sp>
        <p:nvSpPr>
          <p:cNvPr id="901" name="Citation"/>
          <p:cNvSpPr txBox="1"/>
          <p:nvPr/>
        </p:nvSpPr>
        <p:spPr>
          <a:xfrm>
            <a:off x="1008314" y="6470000"/>
            <a:ext cx="11135746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i="1" dirty="0">
                <a:effectLst/>
              </a:rPr>
              <a:t>[1] B. Jones et al., ‘Conceptual design of a medical drone logistics network for Scotland’, 2025 (full citation on Pareto Point 1).</a:t>
            </a:r>
          </a:p>
        </p:txBody>
      </p:sp>
    </p:spTree>
    <p:extLst>
      <p:ext uri="{BB962C8B-B14F-4D97-AF65-F5344CB8AC3E}">
        <p14:creationId xmlns:p14="http://schemas.microsoft.com/office/powerpoint/2010/main" val="13860653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115C3-81C3-9423-BB2F-6926CA64E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3887B-C477-D924-C05D-9741BBB59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4509" y="124432"/>
            <a:ext cx="10573801" cy="763500"/>
          </a:xfrm>
        </p:spPr>
        <p:txBody>
          <a:bodyPr/>
          <a:lstStyle/>
          <a:p>
            <a:pPr algn="r"/>
            <a:r>
              <a:rPr lang="en-GB" dirty="0"/>
              <a:t>Reachability : </a:t>
            </a:r>
            <a:r>
              <a:rPr lang="en-GB" sz="4000" b="1" dirty="0"/>
              <a:t>Case Study</a:t>
            </a:r>
            <a:endParaRPr lang="en-GB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3AC55B-3FF7-C21B-32ED-1EDF3CF2E44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38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756B4E-0497-C5D9-4FDE-230122177A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0000" y="3087647"/>
            <a:ext cx="6850000" cy="1974705"/>
          </a:xfrm>
          <a:prstGeom prst="rect">
            <a:avLst/>
          </a:prstGeom>
        </p:spPr>
      </p:pic>
      <p:sp>
        <p:nvSpPr>
          <p:cNvPr id="900" name="Network Data Strip"/>
          <p:cNvSpPr txBox="1"/>
          <p:nvPr/>
        </p:nvSpPr>
        <p:spPr>
          <a:xfrm>
            <a:off x="1220236" y="1450000"/>
            <a:ext cx="3500000" cy="490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rPr lang="en-GB" sz="2400" b="1" dirty="0"/>
              <a:t>Pareto Point 6</a:t>
            </a:r>
          </a:p>
          <a:p>
            <a:pPr>
              <a:spcBef>
                <a:spcPts val="400"/>
              </a:spcBef>
              <a:buNone/>
            </a:pPr>
            <a:r>
              <a:rPr lang="en-GB" sz="1400" i="1" dirty="0">
                <a:solidFill>
                  <a:srgbClr val="0177AD"/>
                </a:solidFill>
              </a:rPr>
              <a:t>Balanced</a:t>
            </a:r>
          </a:p>
          <a:p>
            <a:pPr>
              <a:spcBef>
                <a:spcPts val="1200"/>
              </a:spcBef>
              <a:buNone/>
            </a:pPr>
            <a:r>
              <a:rPr lang="en-GB" sz="1300" dirty="0"/>
              <a:t>Balanced trade-off: moderate VTOL mesh plus selectively activated bridge stations.</a:t>
            </a:r>
          </a:p>
          <a:p>
            <a:pPr>
              <a:spcBef>
                <a:spcPts val="600"/>
              </a:spcBef>
              <a:buNone/>
            </a:pPr>
            <a:r>
              <a:rPr lang="en-GB" sz="1200" i="1" dirty="0"/>
              <a:t>A middle ground between the dense and sparse extremes, in both connectivity and reliability.</a:t>
            </a:r>
          </a:p>
          <a:p>
            <a:pPr>
              <a:spcBef>
                <a:spcPts val="1400"/>
              </a:spcBef>
              <a:buNone/>
            </a:pPr>
            <a:r>
              <a:rPr lang="en-GB" sz="1300" b="1" dirty="0"/>
              <a:t>95 nodes · 261 edges</a:t>
            </a:r>
          </a:p>
          <a:p>
            <a:pPr>
              <a:spcBef>
                <a:spcPts val="400"/>
              </a:spcBef>
              <a:buNone/>
            </a:pPr>
            <a:r>
              <a:rPr lang="en-GB" sz="1300" dirty="0"/>
              <a:t>6 sources → 59 sinks</a:t>
            </a:r>
          </a:p>
          <a:p>
            <a:pPr>
              <a:spcBef>
                <a:spcPts val="400"/>
              </a:spcBef>
              <a:buNone/>
            </a:pPr>
            <a:r>
              <a:rPr lang="en-GB" sz="1300" dirty="0"/>
              <a:t>Max depth 11 · Max |C| 2</a:t>
            </a:r>
          </a:p>
          <a:p>
            <a:pPr>
              <a:spcBef>
                <a:spcPts val="400"/>
              </a:spcBef>
              <a:buNone/>
            </a:pPr>
            <a:r>
              <a:rPr lang="en-GB" sz="1300" dirty="0"/>
              <a:t>IPA: 0.457s total (144 diamonds)</a:t>
            </a:r>
          </a:p>
          <a:p>
            <a:pPr>
              <a:spcBef>
                <a:spcPts val="1400"/>
              </a:spcBef>
              <a:buNone/>
            </a:pPr>
            <a:r>
              <a:rPr lang="en-GB" sz="1050" b="1" dirty="0">
                <a:solidFill>
                  <a:srgbClr val="5B8C1A"/>
                </a:solidFill>
              </a:rPr>
              <a:t>● </a:t>
            </a:r>
            <a:r>
              <a:rPr lang="en-GB" sz="1050" dirty="0"/>
              <a:t>source nodes    </a:t>
            </a:r>
            <a:r>
              <a:rPr lang="en-GB" sz="1050" b="1" dirty="0">
                <a:solidFill>
                  <a:srgbClr val="0177AD"/>
                </a:solidFill>
              </a:rPr>
              <a:t>● </a:t>
            </a:r>
            <a:r>
              <a:rPr lang="en-GB" sz="1050" dirty="0"/>
              <a:t>diamond/join nodes    </a:t>
            </a:r>
            <a:r>
              <a:rPr lang="en-GB" sz="1050" b="1" dirty="0">
                <a:solidFill>
                  <a:srgbClr val="9B9B9B"/>
                </a:solidFill>
              </a:rPr>
              <a:t>● </a:t>
            </a:r>
            <a:r>
              <a:rPr lang="en-GB" sz="1050" dirty="0"/>
              <a:t>other nodes</a:t>
            </a:r>
          </a:p>
        </p:txBody>
      </p:sp>
      <p:sp>
        <p:nvSpPr>
          <p:cNvPr id="901" name="Citation"/>
          <p:cNvSpPr txBox="1"/>
          <p:nvPr/>
        </p:nvSpPr>
        <p:spPr>
          <a:xfrm>
            <a:off x="1008314" y="6470000"/>
            <a:ext cx="11135746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i="1" dirty="0">
                <a:effectLst/>
              </a:rPr>
              <a:t>[1] B. Jones et al., ‘Conceptual design of a medical drone logistics network for Scotland’, 2025 (full citation on Pareto Point 1).</a:t>
            </a:r>
          </a:p>
        </p:txBody>
      </p:sp>
    </p:spTree>
    <p:extLst>
      <p:ext uri="{BB962C8B-B14F-4D97-AF65-F5344CB8AC3E}">
        <p14:creationId xmlns:p14="http://schemas.microsoft.com/office/powerpoint/2010/main" val="37649430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509" y="124432"/>
            <a:ext cx="10573801" cy="763500"/>
          </a:xfrm>
        </p:spPr>
        <p:txBody>
          <a:bodyPr/>
          <a:lstStyle/>
          <a:p>
            <a:pPr algn="r"/>
            <a:r>
              <a:rPr lang="en-GB" dirty="0"/>
              <a:t>Reachability : </a:t>
            </a:r>
            <a:r>
              <a:rPr lang="en-GB" sz="4000" b="1" dirty="0"/>
              <a:t>Case Study</a:t>
            </a:r>
            <a:endParaRPr lang="en-GB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39</a:t>
            </a:fld>
            <a:endParaRPr lang="en-GB"/>
          </a:p>
        </p:txBody>
      </p:sp>
      <p:sp>
        <p:nvSpPr>
          <p:cNvPr id="120" name="Content Placeholder 120"/>
          <p:cNvSpPr txBox="1">
            <a:spLocks/>
          </p:cNvSpPr>
          <p:nvPr/>
        </p:nvSpPr>
        <p:spPr>
          <a:xfrm>
            <a:off x="1258132" y="4099216"/>
            <a:ext cx="10904246" cy="2725881"/>
          </a:xfrm>
          <a:prstGeom prst="rect">
            <a:avLst/>
          </a:prstGeom>
        </p:spPr>
        <p:txBody>
          <a:bodyPr vert="horz" lIns="0" tIns="45720" rIns="0" bIns="45720" rtlCol="0">
            <a:normAutofit fontScale="92500" lnSpcReduction="10000"/>
          </a:bodyPr>
          <a:lstStyle/>
          <a:p>
            <a:pPr marL="285750" indent="-285750" defTabSz="914318">
              <a:lnSpc>
                <a:spcPct val="140000"/>
              </a:lnSpc>
              <a:spcBef>
                <a:spcPts val="1000"/>
              </a:spcBef>
              <a:buClr>
                <a:srgbClr val="0177AD"/>
              </a:buClr>
              <a:buFont typeface="Arial" panose="020B0604020202020204" pitchFamily="34" charset="0"/>
              <a:buChar char="•"/>
            </a:pPr>
            <a:r>
              <a:rPr lang="en-GB" sz="1400" dirty="0"/>
              <a:t>Max depth drives runtime more than node count. The three </a:t>
            </a:r>
            <a:r>
              <a:rPr lang="en-GB" sz="1400" dirty="0" err="1"/>
              <a:t>MaxD</a:t>
            </a:r>
            <a:r>
              <a:rPr lang="en-GB" sz="1400" dirty="0"/>
              <a:t>=16 networks span a 1.6× size range yet all fall in the 7–33s band</a:t>
            </a:r>
          </a:p>
          <a:p>
            <a:pPr marL="285750" indent="-285750" defTabSz="914318">
              <a:lnSpc>
                <a:spcPct val="140000"/>
              </a:lnSpc>
              <a:spcBef>
                <a:spcPts val="1000"/>
              </a:spcBef>
              <a:buClr>
                <a:srgbClr val="0177AD"/>
              </a:buClr>
              <a:buFont typeface="Arial" panose="020B0604020202020204" pitchFamily="34" charset="0"/>
              <a:buChar char="•"/>
            </a:pPr>
            <a:r>
              <a:rPr lang="en-GB" sz="1400" dirty="0"/>
              <a:t>Within that band, the secondary driver is unique diamond count (177 → 165 → 206), consistent with PP1 being the slowest despite mid-range node count.</a:t>
            </a:r>
          </a:p>
          <a:p>
            <a:pPr marL="285750" indent="-285750" defTabSz="914318">
              <a:lnSpc>
                <a:spcPct val="140000"/>
              </a:lnSpc>
              <a:spcBef>
                <a:spcPts val="1000"/>
              </a:spcBef>
              <a:buClr>
                <a:srgbClr val="0177AD"/>
              </a:buClr>
              <a:buFont typeface="Arial" panose="020B0604020202020204" pitchFamily="34" charset="0"/>
              <a:buChar char="•"/>
            </a:pPr>
            <a:r>
              <a:rPr lang="en-GB" sz="1400" dirty="0"/>
              <a:t>MUNIN is the |C| counterpoint. It is the shallowest network and should be fast, and it is (2.84s). But  it costs more than METRO, PP2, and PP6 combined, solely because </a:t>
            </a:r>
            <a:r>
              <a:rPr lang="en-GB" sz="1400" dirty="0" err="1"/>
              <a:t>Max|C</a:t>
            </a:r>
            <a:r>
              <a:rPr lang="en-GB" sz="1400" dirty="0"/>
              <a:t>|=8 forces 2^8=256 conditioning states per diamond join. </a:t>
            </a:r>
          </a:p>
          <a:p>
            <a:pPr marL="285750" indent="-285750" defTabSz="914318">
              <a:lnSpc>
                <a:spcPct val="140000"/>
              </a:lnSpc>
              <a:spcBef>
                <a:spcPts val="1000"/>
              </a:spcBef>
              <a:buClr>
                <a:srgbClr val="0177AD"/>
              </a:buClr>
              <a:buFont typeface="Arial" panose="020B0604020202020204" pitchFamily="34" charset="0"/>
              <a:buChar char="•"/>
            </a:pPr>
            <a:r>
              <a:rPr lang="en-GB" sz="1400" dirty="0"/>
              <a:t>Depth and conditioning width are independent cost axes; neither can be ignored.</a:t>
            </a:r>
          </a:p>
          <a:p>
            <a:pPr marL="285750" indent="-285750" defTabSz="914318">
              <a:lnSpc>
                <a:spcPct val="140000"/>
              </a:lnSpc>
              <a:spcBef>
                <a:spcPts val="1000"/>
              </a:spcBef>
              <a:buClr>
                <a:srgbClr val="0177AD"/>
              </a:buClr>
              <a:buFont typeface="Arial" panose="020B0604020202020204" pitchFamily="34" charset="0"/>
              <a:buChar char="•"/>
            </a:pPr>
            <a:r>
              <a:rPr lang="en-GB" sz="1400" dirty="0"/>
              <a:t>In deeply nested networks, the propagation phase  which in the worst case of no cache hits enumerates all conditional state combinations recursively dominates computing time</a:t>
            </a:r>
          </a:p>
        </p:txBody>
      </p:sp>
      <p:sp>
        <p:nvSpPr>
          <p:cNvPr id="960" name="Kicker"/>
          <p:cNvSpPr txBox="1"/>
          <p:nvPr/>
        </p:nvSpPr>
        <p:spPr>
          <a:xfrm>
            <a:off x="1194775" y="846091"/>
            <a:ext cx="10904246" cy="50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GB" b="1" dirty="0">
                <a:solidFill>
                  <a:srgbClr val="0177AD"/>
                </a:solidFill>
              </a:rPr>
              <a:t>Network s</a:t>
            </a:r>
            <a:r>
              <a:rPr lang="en-GB" sz="1800" b="1" dirty="0">
                <a:solidFill>
                  <a:srgbClr val="0177AD"/>
                </a:solidFill>
              </a:rPr>
              <a:t>tructure and timing for all 8 networks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2154382"/>
              </p:ext>
            </p:extLst>
          </p:nvPr>
        </p:nvGraphicFramePr>
        <p:xfrm>
          <a:off x="2307817" y="1219197"/>
          <a:ext cx="7878736" cy="26600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56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54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54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54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54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042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046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978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>
                          <a:effectLst/>
                        </a:rPr>
                        <a:t>Network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>
                          <a:effectLst/>
                        </a:rPr>
                        <a:t>Nodes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>
                          <a:effectLst/>
                        </a:rPr>
                        <a:t>Diamonds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>
                          <a:effectLst/>
                        </a:rPr>
                        <a:t>Max Depth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>
                          <a:effectLst/>
                        </a:rPr>
                        <a:t>Max |C|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>
                          <a:effectLst/>
                        </a:rPr>
                        <a:t>Decomp (s)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>
                          <a:effectLst/>
                        </a:rPr>
                        <a:t>Prop (s)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>
                          <a:effectLst/>
                        </a:rPr>
                        <a:t>Total (s)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>
                          <a:effectLst/>
                        </a:rPr>
                        <a:t>PP4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effectLst/>
                        </a:rPr>
                        <a:t>36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0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0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0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0.000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0.000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>
                          <a:effectLst/>
                        </a:rPr>
                        <a:t>0.000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>
                          <a:effectLst/>
                        </a:rPr>
                        <a:t>MUNIN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1,041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216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3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8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0.535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effectLst/>
                        </a:rPr>
                        <a:t>2.308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>
                          <a:effectLst/>
                        </a:rPr>
                        <a:t>2.843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>
                          <a:effectLst/>
                        </a:rPr>
                        <a:t>METRO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306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99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5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2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effectLst/>
                        </a:rPr>
                        <a:t>0.084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0.057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>
                          <a:effectLst/>
                        </a:rPr>
                        <a:t>0.141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>
                          <a:effectLst/>
                        </a:rPr>
                        <a:t>PP2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165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155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8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2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0.036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0.071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>
                          <a:effectLst/>
                        </a:rPr>
                        <a:t>0.108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>
                          <a:effectLst/>
                        </a:rPr>
                        <a:t>PP6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95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144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11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2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0.025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0.432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>
                          <a:effectLst/>
                        </a:rPr>
                        <a:t>0.457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>
                          <a:effectLst/>
                        </a:rPr>
                        <a:t>PP5</a:t>
                      </a:r>
                    </a:p>
                  </a:txBody>
                  <a:tcPr marL="9525" marR="9525" marT="9525" marB="9525" anchor="ctr"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89</a:t>
                      </a:r>
                    </a:p>
                  </a:txBody>
                  <a:tcPr marL="9525" marR="9525" marT="9525" marB="9525" anchor="ctr"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177</a:t>
                      </a:r>
                    </a:p>
                  </a:txBody>
                  <a:tcPr marL="9525" marR="9525" marT="9525" marB="9525" anchor="ctr"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16</a:t>
                      </a:r>
                    </a:p>
                  </a:txBody>
                  <a:tcPr marL="9525" marR="9525" marT="9525" marB="9525" anchor="ctr"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1</a:t>
                      </a:r>
                    </a:p>
                  </a:txBody>
                  <a:tcPr marL="9525" marR="9525" marT="9525" marB="9525" anchor="ctr"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0.088</a:t>
                      </a:r>
                    </a:p>
                  </a:txBody>
                  <a:tcPr marL="9525" marR="9525" marT="9525" marB="9525" anchor="ctr"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7.645</a:t>
                      </a:r>
                    </a:p>
                  </a:txBody>
                  <a:tcPr marL="9525" marR="9525" marT="9525" marB="9525" anchor="ctr"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>
                          <a:effectLst/>
                        </a:rPr>
                        <a:t>7.733</a:t>
                      </a:r>
                    </a:p>
                  </a:txBody>
                  <a:tcPr marL="9525" marR="9525" marT="9525" marB="9525" anchor="ctr">
                    <a:solidFill>
                      <a:srgbClr val="EA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0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>
                          <a:effectLst/>
                        </a:rPr>
                        <a:t>PP3</a:t>
                      </a:r>
                    </a:p>
                  </a:txBody>
                  <a:tcPr marL="9525" marR="9525" marT="9525" marB="9525" anchor="ctr"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98</a:t>
                      </a:r>
                    </a:p>
                  </a:txBody>
                  <a:tcPr marL="9525" marR="9525" marT="9525" marB="9525" anchor="ctr"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165</a:t>
                      </a:r>
                    </a:p>
                  </a:txBody>
                  <a:tcPr marL="9525" marR="9525" marT="9525" marB="9525" anchor="ctr"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16</a:t>
                      </a:r>
                    </a:p>
                  </a:txBody>
                  <a:tcPr marL="9525" marR="9525" marT="9525" marB="9525" anchor="ctr"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1</a:t>
                      </a:r>
                    </a:p>
                  </a:txBody>
                  <a:tcPr marL="9525" marR="9525" marT="9525" marB="9525" anchor="ctr"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0.095</a:t>
                      </a:r>
                    </a:p>
                  </a:txBody>
                  <a:tcPr marL="9525" marR="9525" marT="9525" marB="9525" anchor="ctr"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8.230</a:t>
                      </a:r>
                    </a:p>
                  </a:txBody>
                  <a:tcPr marL="9525" marR="9525" marT="9525" marB="9525" anchor="ctr"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>
                          <a:effectLst/>
                        </a:rPr>
                        <a:t>8.325</a:t>
                      </a:r>
                    </a:p>
                  </a:txBody>
                  <a:tcPr marL="9525" marR="9525" marT="9525" marB="9525" anchor="ctr">
                    <a:solidFill>
                      <a:srgbClr val="EA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0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>
                          <a:effectLst/>
                        </a:rPr>
                        <a:t>PP1</a:t>
                      </a:r>
                    </a:p>
                  </a:txBody>
                  <a:tcPr marL="9525" marR="9525" marT="9525" marB="9525" anchor="ctr"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145</a:t>
                      </a:r>
                    </a:p>
                  </a:txBody>
                  <a:tcPr marL="9525" marR="9525" marT="9525" marB="9525" anchor="ctr"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206</a:t>
                      </a:r>
                    </a:p>
                  </a:txBody>
                  <a:tcPr marL="9525" marR="9525" marT="9525" marB="9525" anchor="ctr"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16</a:t>
                      </a:r>
                    </a:p>
                  </a:txBody>
                  <a:tcPr marL="9525" marR="9525" marT="9525" marB="9525" anchor="ctr"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1</a:t>
                      </a:r>
                    </a:p>
                  </a:txBody>
                  <a:tcPr marL="9525" marR="9525" marT="9525" marB="9525" anchor="ctr"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0.993</a:t>
                      </a:r>
                    </a:p>
                  </a:txBody>
                  <a:tcPr marL="9525" marR="9525" marT="9525" marB="9525" anchor="ctr"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32.359</a:t>
                      </a:r>
                    </a:p>
                  </a:txBody>
                  <a:tcPr marL="9525" marR="9525" marT="9525" marB="9525" anchor="ctr"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>
                          <a:effectLst/>
                        </a:rPr>
                        <a:t>33.352</a:t>
                      </a:r>
                    </a:p>
                  </a:txBody>
                  <a:tcPr marL="9525" marR="9525" marT="9525" marB="9525" anchor="ctr">
                    <a:solidFill>
                      <a:srgbClr val="EA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53BBF-0910-4BA3-75E1-7ED2E5891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671C2-0C9E-2EA1-80B3-51C12DB68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4509" y="124432"/>
            <a:ext cx="10573801" cy="763500"/>
          </a:xfrm>
        </p:spPr>
        <p:txBody>
          <a:bodyPr/>
          <a:lstStyle/>
          <a:p>
            <a:pPr algn="r"/>
            <a:r>
              <a:rPr lang="en-GB" dirty="0"/>
              <a:t>Reachability : </a:t>
            </a:r>
            <a:r>
              <a:rPr lang="en-GB" sz="4000" b="1" dirty="0"/>
              <a:t>Case Study</a:t>
            </a:r>
            <a:endParaRPr lang="en-GB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AFA63D-B60C-3FB1-9494-58C1D62216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40</a:t>
            </a:fld>
            <a:endParaRPr lang="en-GB"/>
          </a:p>
        </p:txBody>
      </p:sp>
      <p:sp>
        <p:nvSpPr>
          <p:cNvPr id="950" name="Story Bullets"/>
          <p:cNvSpPr txBox="1"/>
          <p:nvPr/>
        </p:nvSpPr>
        <p:spPr>
          <a:xfrm>
            <a:off x="1220236" y="850000"/>
            <a:ext cx="10904246" cy="1850000"/>
          </a:xfrm>
          <a:prstGeom prst="rect">
            <a:avLst/>
          </a:prstGeom>
          <a:noFill/>
        </p:spPr>
        <p:txBody>
          <a:bodyPr wrap="square" lIns="0" tIns="0" rIns="0" bIns="0">
            <a:normAutofit lnSpcReduction="10000"/>
          </a:bodyPr>
          <a:lstStyle/>
          <a:p>
            <a:pPr marL="0" indent="0">
              <a:buNone/>
            </a:pPr>
            <a:r>
              <a:rPr lang="en-GB" sz="1600" b="1" dirty="0">
                <a:solidFill>
                  <a:srgbClr val="0177AD"/>
                </a:solidFill>
              </a:rPr>
              <a:t>(1) Depth predicts cost</a:t>
            </a:r>
          </a:p>
          <a:p>
            <a:pPr marL="285750" indent="-285750" defTabSz="914318">
              <a:lnSpc>
                <a:spcPct val="115000"/>
              </a:lnSpc>
              <a:spcBef>
                <a:spcPts val="400"/>
              </a:spcBef>
              <a:buClr>
                <a:srgbClr val="0177AD"/>
              </a:buClr>
              <a:buFont typeface="Arial" panose="020B0604020202020204" pitchFamily="34" charset="0"/>
              <a:buChar char="•"/>
            </a:pPr>
            <a:r>
              <a:rPr lang="en-GB" sz="1400" dirty="0"/>
              <a:t>Network size ranges 36–1,041 nodes with no consistent relationship to runtime </a:t>
            </a:r>
          </a:p>
          <a:p>
            <a:pPr marL="285750" indent="-285750" defTabSz="914318">
              <a:lnSpc>
                <a:spcPct val="115000"/>
              </a:lnSpc>
              <a:spcBef>
                <a:spcPts val="400"/>
              </a:spcBef>
              <a:buClr>
                <a:srgbClr val="0177AD"/>
              </a:buClr>
              <a:buFont typeface="Arial" panose="020B0604020202020204" pitchFamily="34" charset="0"/>
              <a:buChar char="•"/>
            </a:pPr>
            <a:r>
              <a:rPr lang="en-GB" sz="1400" dirty="0"/>
              <a:t>Two orthogonal axes set the worst case per join (right): nesting depth (MaxD) and conditioning width (|C|). </a:t>
            </a:r>
          </a:p>
          <a:p>
            <a:pPr marL="285750" indent="-285750" defTabSz="914318">
              <a:lnSpc>
                <a:spcPct val="115000"/>
              </a:lnSpc>
              <a:spcBef>
                <a:spcPts val="400"/>
              </a:spcBef>
              <a:buClr>
                <a:srgbClr val="0177AD"/>
              </a:buClr>
              <a:buFont typeface="Arial" panose="020B0604020202020204" pitchFamily="34" charset="0"/>
              <a:buChar char="•"/>
            </a:pPr>
            <a:r>
              <a:rPr lang="en-GB" sz="1400" dirty="0"/>
              <a:t>MUNIN is shallow but wide with 2⁸ = 256 states, across only 3 levels. </a:t>
            </a:r>
          </a:p>
          <a:p>
            <a:pPr marL="285750" indent="-285750" defTabSz="914318">
              <a:lnSpc>
                <a:spcPct val="115000"/>
              </a:lnSpc>
              <a:spcBef>
                <a:spcPts val="400"/>
              </a:spcBef>
              <a:buClr>
                <a:srgbClr val="0177AD"/>
              </a:buClr>
              <a:buFont typeface="Arial" panose="020B0604020202020204" pitchFamily="34" charset="0"/>
              <a:buChar char="•"/>
            </a:pPr>
            <a:r>
              <a:rPr lang="en-GB" sz="1400" dirty="0"/>
              <a:t>The drone networks are narrow but deep with 2¹ = 2 states, across 16 nested levels</a:t>
            </a:r>
          </a:p>
          <a:p>
            <a:pPr marL="285750" indent="-285750" defTabSz="914318">
              <a:lnSpc>
                <a:spcPct val="115000"/>
              </a:lnSpc>
              <a:spcBef>
                <a:spcPts val="400"/>
              </a:spcBef>
              <a:buClr>
                <a:srgbClr val="0177AD"/>
              </a:buClr>
              <a:buFont typeface="Arial" panose="020B0604020202020204" pitchFamily="34" charset="0"/>
              <a:buChar char="•"/>
            </a:pPr>
            <a:r>
              <a:rPr lang="en-GB" sz="1400" dirty="0"/>
              <a:t>Among networks at the same depth, diamond count is the secondary driver: Pareto Point 1's 206 diamonds vs. Point 3/5's ~170 explains its 4× longer runtime, despite all three sharing MaxD = 16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392C7A-6ECE-A9A2-A263-FB1BDC1FA0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780" y="2614859"/>
            <a:ext cx="8813443" cy="4077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1502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53BBF-0910-4BA3-75E1-7ED2E5891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671C2-0C9E-2EA1-80B3-51C12DB68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4509" y="124432"/>
            <a:ext cx="10573801" cy="763500"/>
          </a:xfrm>
        </p:spPr>
        <p:txBody>
          <a:bodyPr/>
          <a:lstStyle/>
          <a:p>
            <a:pPr algn="r"/>
            <a:r>
              <a:rPr lang="en-GB" dirty="0"/>
              <a:t>Reachability : </a:t>
            </a:r>
            <a:r>
              <a:rPr lang="en-GB" sz="4000" b="1" dirty="0"/>
              <a:t>Case Study</a:t>
            </a:r>
            <a:endParaRPr lang="en-GB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AFA63D-B60C-3FB1-9494-58C1D62216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41</a:t>
            </a:fld>
            <a:endParaRPr lang="en-GB"/>
          </a:p>
        </p:txBody>
      </p:sp>
      <p:sp>
        <p:nvSpPr>
          <p:cNvPr id="950" name="Story Bullets"/>
          <p:cNvSpPr txBox="1"/>
          <p:nvPr/>
        </p:nvSpPr>
        <p:spPr>
          <a:xfrm>
            <a:off x="1220236" y="880000"/>
            <a:ext cx="10904246" cy="1750000"/>
          </a:xfrm>
          <a:prstGeom prst="rect">
            <a:avLst/>
          </a:prstGeom>
          <a:noFill/>
        </p:spPr>
        <p:txBody>
          <a:bodyPr wrap="square" lIns="0" tIns="0" rIns="0" bIns="0">
            <a:normAutofit fontScale="55000" lnSpcReduction="20000"/>
          </a:bodyPr>
          <a:lstStyle/>
          <a:p>
            <a:pPr marL="0" indent="0">
              <a:buNone/>
            </a:pPr>
            <a:r>
              <a:rPr lang="en-GB" sz="2900" b="1" dirty="0">
                <a:solidFill>
                  <a:srgbClr val="0177AD"/>
                </a:solidFill>
              </a:rPr>
              <a:t>(2) Still exact, for all nodes</a:t>
            </a:r>
          </a:p>
          <a:p>
            <a:pPr marL="285750" indent="-285750" defTabSz="914318">
              <a:lnSpc>
                <a:spcPct val="130000"/>
              </a:lnSpc>
              <a:spcBef>
                <a:spcPts val="1000"/>
              </a:spcBef>
              <a:buClr>
                <a:srgbClr val="0177AD"/>
              </a:buClr>
              <a:buFont typeface="Arial" panose="020B0604020202020204" pitchFamily="34" charset="0"/>
              <a:buChar char="•"/>
            </a:pPr>
            <a:r>
              <a:rPr lang="en-GB" sz="2600" dirty="0"/>
              <a:t>IPA accuracy for every node is validated against Monte Carlo runs at three sample sizes (10K, 100K, 1M), across all 8 networks</a:t>
            </a:r>
          </a:p>
          <a:p>
            <a:pPr marL="285750" indent="-285750" defTabSz="914318">
              <a:lnSpc>
                <a:spcPct val="130000"/>
              </a:lnSpc>
              <a:spcBef>
                <a:spcPts val="1000"/>
              </a:spcBef>
              <a:buClr>
                <a:srgbClr val="0177AD"/>
              </a:buClr>
              <a:buFont typeface="Arial" panose="020B0604020202020204" pitchFamily="34" charset="0"/>
              <a:buChar char="•"/>
            </a:pPr>
            <a:r>
              <a:rPr lang="en-GB" sz="2600" dirty="0"/>
              <a:t>Every network tracks the theoretical 1/√N sampling-noise floor almost exactly regardless of size, depth, or structure</a:t>
            </a:r>
          </a:p>
          <a:p>
            <a:pPr marL="285750" indent="-285750" defTabSz="914318">
              <a:lnSpc>
                <a:spcPct val="130000"/>
              </a:lnSpc>
              <a:spcBef>
                <a:spcPts val="1000"/>
              </a:spcBef>
              <a:buClr>
                <a:srgbClr val="0177AD"/>
              </a:buClr>
              <a:buFont typeface="Arial" panose="020B0604020202020204" pitchFamily="34" charset="0"/>
              <a:buChar char="•"/>
            </a:pPr>
            <a:r>
              <a:rPr lang="en-GB" sz="2600" dirty="0"/>
              <a:t>The practical trade-off: IPA matches or beats MC even at 10K samples for most networks; where it's slower (the depth-16 trio, 10–30s), it still gives an exact answer that MC at 1M samples still can't guarantee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1846EB-9A4F-3890-AFD2-D9CD4DEF59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1686" y="2385302"/>
            <a:ext cx="9038750" cy="4166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15029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42</a:t>
            </a:fld>
            <a:endParaRPr lang="en-GB"/>
          </a:p>
        </p:txBody>
      </p:sp>
      <p:sp>
        <p:nvSpPr>
          <p:cNvPr id="101" name="Content Placeholder 101"/>
          <p:cNvSpPr txBox="1">
            <a:spLocks/>
          </p:cNvSpPr>
          <p:nvPr/>
        </p:nvSpPr>
        <p:spPr>
          <a:xfrm>
            <a:off x="1089355" y="1190874"/>
            <a:ext cx="10904246" cy="500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marL="0" indent="0">
              <a:buNone/>
            </a:pPr>
            <a:r>
              <a:rPr lang="en-GB" sz="2000" dirty="0"/>
              <a:t>One shared network model, defined once, reused across all three:</a:t>
            </a:r>
          </a:p>
        </p:txBody>
      </p:sp>
      <p:sp>
        <p:nvSpPr>
          <p:cNvPr id="102" name="Content Placeholder 102"/>
          <p:cNvSpPr txBox="1">
            <a:spLocks/>
          </p:cNvSpPr>
          <p:nvPr/>
        </p:nvSpPr>
        <p:spPr>
          <a:xfrm>
            <a:off x="1152747" y="1776545"/>
            <a:ext cx="3096199" cy="1939936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Critical Path</a:t>
            </a:r>
          </a:p>
          <a:p>
            <a:pPr marL="285750" lvl="0" indent="-285750" defTabSz="914318">
              <a:lnSpc>
                <a:spcPct val="130000"/>
              </a:lnSpc>
              <a:spcBef>
                <a:spcPts val="1000"/>
              </a:spcBef>
              <a:buClr>
                <a:srgbClr val="0177AD"/>
              </a:buClr>
              <a:buFont typeface="Arial" panose="020B0604020202020204" pitchFamily="34" charset="0"/>
              <a:buChar char="•"/>
            </a:pPr>
            <a:r>
              <a:rPr lang="en-GB" dirty="0"/>
              <a:t>best/worst outcome along dependency paths</a:t>
            </a:r>
          </a:p>
          <a:p>
            <a:pPr marL="285750" lvl="0" indent="-285750" defTabSz="914318">
              <a:lnSpc>
                <a:spcPct val="130000"/>
              </a:lnSpc>
              <a:spcBef>
                <a:spcPts val="1000"/>
              </a:spcBef>
              <a:buClr>
                <a:srgbClr val="0177AD"/>
              </a:buClr>
              <a:buFont typeface="Arial" panose="020B0604020202020204" pitchFamily="34" charset="0"/>
              <a:buChar char="•"/>
            </a:pPr>
            <a:r>
              <a:rPr lang="en-GB" dirty="0"/>
              <a:t>exact via forward/backward pass, single pass</a:t>
            </a:r>
          </a:p>
        </p:txBody>
      </p:sp>
      <p:sp>
        <p:nvSpPr>
          <p:cNvPr id="103" name="Content Placeholder 103"/>
          <p:cNvSpPr txBox="1">
            <a:spLocks/>
          </p:cNvSpPr>
          <p:nvPr/>
        </p:nvSpPr>
        <p:spPr>
          <a:xfrm>
            <a:off x="4524592" y="1776545"/>
            <a:ext cx="3408073" cy="301712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marL="0" indent="0">
              <a:buNone/>
            </a:pPr>
            <a:r>
              <a:rPr lang="en-GB" b="1" dirty="0"/>
              <a:t>Flow Capacity</a:t>
            </a:r>
          </a:p>
          <a:p>
            <a:pPr marL="285750" lvl="0" indent="-285750" defTabSz="914318">
              <a:lnSpc>
                <a:spcPct val="130000"/>
              </a:lnSpc>
              <a:spcBef>
                <a:spcPts val="1000"/>
              </a:spcBef>
              <a:buClr>
                <a:srgbClr val="0177AD"/>
              </a:buClr>
              <a:buFont typeface="Arial" panose="020B0604020202020204" pitchFamily="34" charset="0"/>
              <a:buChar char="•"/>
            </a:pPr>
            <a:r>
              <a:rPr lang="en-GB" dirty="0"/>
              <a:t>how much can actually be delivered</a:t>
            </a:r>
          </a:p>
          <a:p>
            <a:pPr marL="285750" lvl="0" indent="-285750" defTabSz="914318">
              <a:lnSpc>
                <a:spcPct val="130000"/>
              </a:lnSpc>
              <a:spcBef>
                <a:spcPts val="1000"/>
              </a:spcBef>
              <a:buClr>
                <a:srgbClr val="0177AD"/>
              </a:buClr>
              <a:buFont typeface="Arial" panose="020B0604020202020204" pitchFamily="34" charset="0"/>
              <a:buChar char="•"/>
            </a:pPr>
            <a:r>
              <a:rPr lang="en-GB" dirty="0"/>
              <a:t>exact via max-flow + reusable diagnostics</a:t>
            </a:r>
          </a:p>
          <a:p>
            <a:pPr marL="285750" lvl="0" indent="-285750" defTabSz="914318">
              <a:lnSpc>
                <a:spcPct val="130000"/>
              </a:lnSpc>
              <a:spcBef>
                <a:spcPts val="1000"/>
              </a:spcBef>
              <a:buClr>
                <a:srgbClr val="0177AD"/>
              </a:buClr>
              <a:buFont typeface="Arial" panose="020B0604020202020204" pitchFamily="34" charset="0"/>
              <a:buChar char="•"/>
            </a:pPr>
            <a:r>
              <a:rPr lang="en-GB" dirty="0"/>
              <a:t>same F⋆, very different bottleneck and upgrade story</a:t>
            </a:r>
          </a:p>
        </p:txBody>
      </p:sp>
      <p:sp>
        <p:nvSpPr>
          <p:cNvPr id="104" name="Content Placeholder 104"/>
          <p:cNvSpPr txBox="1">
            <a:spLocks/>
          </p:cNvSpPr>
          <p:nvPr/>
        </p:nvSpPr>
        <p:spPr>
          <a:xfrm>
            <a:off x="8244536" y="1776545"/>
            <a:ext cx="3783774" cy="310025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marL="0" indent="0">
              <a:buNone/>
            </a:pPr>
            <a:r>
              <a:rPr lang="en-GB" b="1" dirty="0"/>
              <a:t>Reachability</a:t>
            </a:r>
          </a:p>
          <a:p>
            <a:pPr marL="285750" lvl="0" indent="-285750" defTabSz="914318">
              <a:lnSpc>
                <a:spcPct val="130000"/>
              </a:lnSpc>
              <a:spcBef>
                <a:spcPts val="1000"/>
              </a:spcBef>
              <a:buClr>
                <a:srgbClr val="0177AD"/>
              </a:buClr>
              <a:buFont typeface="Arial" panose="020B0604020202020204" pitchFamily="34" charset="0"/>
              <a:buChar char="•"/>
            </a:pPr>
            <a:r>
              <a:rPr lang="en-GB" dirty="0"/>
              <a:t>probability a path survives despite failures</a:t>
            </a:r>
          </a:p>
          <a:p>
            <a:pPr marL="285750" lvl="0" indent="-285750" defTabSz="914318">
              <a:lnSpc>
                <a:spcPct val="130000"/>
              </a:lnSpc>
              <a:spcBef>
                <a:spcPts val="1000"/>
              </a:spcBef>
              <a:buClr>
                <a:srgbClr val="0177AD"/>
              </a:buClr>
              <a:buFont typeface="Arial" panose="020B0604020202020204" pitchFamily="34" charset="0"/>
              <a:buChar char="•"/>
            </a:pPr>
            <a:r>
              <a:rPr lang="en-GB" dirty="0"/>
              <a:t>exact via diamond decomposition + supernode caching</a:t>
            </a:r>
          </a:p>
          <a:p>
            <a:pPr marL="285750" lvl="0" indent="-285750" defTabSz="914318">
              <a:lnSpc>
                <a:spcPct val="130000"/>
              </a:lnSpc>
              <a:spcBef>
                <a:spcPts val="1000"/>
              </a:spcBef>
              <a:buClr>
                <a:srgbClr val="0177AD"/>
              </a:buClr>
              <a:buFont typeface="Arial" panose="020B0604020202020204" pitchFamily="34" charset="0"/>
              <a:buChar char="•"/>
            </a:pPr>
            <a:r>
              <a:rPr lang="en-GB" dirty="0"/>
              <a:t>nesting depth, not size, governs tractability</a:t>
            </a:r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69859BA7-AAA7-6A49-A1CF-564135B04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5615" y="4793672"/>
            <a:ext cx="9354167" cy="214022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2A6FF3D-176C-46D8-B745-116932D2F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232" y="129108"/>
            <a:ext cx="10978753" cy="1054234"/>
          </a:xfrm>
        </p:spPr>
        <p:txBody>
          <a:bodyPr anchor="t">
            <a:noAutofit/>
          </a:bodyPr>
          <a:lstStyle/>
          <a:p>
            <a:pPr algn="r"/>
            <a:r>
              <a:rPr lang="en-GB" sz="3200" spc="-151" dirty="0"/>
              <a:t>The Information Propagation Framework </a:t>
            </a:r>
            <a:endParaRPr lang="en-GB" sz="3000" spc="-15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&amp;D-Powerpoint Template_16x9">
  <a:themeElements>
    <a:clrScheme name="Engineering">
      <a:dk1>
        <a:srgbClr val="2B2B2B"/>
      </a:dk1>
      <a:lt1>
        <a:srgbClr val="FCFFFF"/>
      </a:lt1>
      <a:dk2>
        <a:srgbClr val="2B2B2B"/>
      </a:dk2>
      <a:lt2>
        <a:srgbClr val="FFFFFF"/>
      </a:lt2>
      <a:accent1>
        <a:srgbClr val="0176AD"/>
      </a:accent1>
      <a:accent2>
        <a:srgbClr val="0176AD"/>
      </a:accent2>
      <a:accent3>
        <a:srgbClr val="0176AD"/>
      </a:accent3>
      <a:accent4>
        <a:srgbClr val="0176AD"/>
      </a:accent4>
      <a:accent5>
        <a:srgbClr val="0176AD"/>
      </a:accent5>
      <a:accent6>
        <a:srgbClr val="0176AD"/>
      </a:accent6>
      <a:hlink>
        <a:srgbClr val="0176AD"/>
      </a:hlink>
      <a:folHlink>
        <a:srgbClr val="00000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B&amp;D-Powerpoint Template_16x9" id="{D6003E70-2833-4847-828A-A182BBF6C8FF}" vid="{85D7DE89-D8E2-D743-952C-ED1FA0F184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1191</TotalTime>
  <Words>4568</Words>
  <Application>Microsoft Office PowerPoint</Application>
  <PresentationFormat>Widescreen</PresentationFormat>
  <Paragraphs>624</Paragraphs>
  <Slides>42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0" baseType="lpstr">
      <vt:lpstr>Arial</vt:lpstr>
      <vt:lpstr>Arial Black</vt:lpstr>
      <vt:lpstr>Calibri</vt:lpstr>
      <vt:lpstr>Cambria Math</vt:lpstr>
      <vt:lpstr>Courier New</vt:lpstr>
      <vt:lpstr>System Font Regular</vt:lpstr>
      <vt:lpstr>Wingdings</vt:lpstr>
      <vt:lpstr>B&amp;D-Powerpoint Template_16x9</vt:lpstr>
      <vt:lpstr>PowerPoint Presentation</vt:lpstr>
      <vt:lpstr>Motivation </vt:lpstr>
      <vt:lpstr>The Information Propagation Framework </vt:lpstr>
      <vt:lpstr>Why Directed Acyclic Graphs</vt:lpstr>
      <vt:lpstr>Algorithm family 1: Critical Path</vt:lpstr>
      <vt:lpstr>Critical Path</vt:lpstr>
      <vt:lpstr>Critical Path</vt:lpstr>
      <vt:lpstr>Critical Path: Case Study</vt:lpstr>
      <vt:lpstr>Critical Path: Case Study</vt:lpstr>
      <vt:lpstr>Critical Path: Case Study</vt:lpstr>
      <vt:lpstr>Critical Path: Case Study</vt:lpstr>
      <vt:lpstr>Algorithm family 2: Flow Capacity</vt:lpstr>
      <vt:lpstr>Algorithm family 2: Flow Capacity</vt:lpstr>
      <vt:lpstr>Algorithm family 2: Flow Capacity</vt:lpstr>
      <vt:lpstr>Flow Capacity : Solver Choice</vt:lpstr>
      <vt:lpstr>Flow Capacity : Min-Cut</vt:lpstr>
      <vt:lpstr>Flow Capacity : Flow Sensitivity</vt:lpstr>
      <vt:lpstr>Flow Capacity : Parametric Threshold</vt:lpstr>
      <vt:lpstr>Computational Complexity</vt:lpstr>
      <vt:lpstr>Flow Capacity : Case Study</vt:lpstr>
      <vt:lpstr>Flow Capacity : Case Study</vt:lpstr>
      <vt:lpstr>Algorithm family 3: Reachability</vt:lpstr>
      <vt:lpstr>Algorithm family 3: Reachability</vt:lpstr>
      <vt:lpstr>Reachability : The Diamond Problem</vt:lpstr>
      <vt:lpstr>Reachability : Nested Diamonds</vt:lpstr>
      <vt:lpstr>Reachability : The Diamond Problem</vt:lpstr>
      <vt:lpstr>Reachability : Full Formalisation</vt:lpstr>
      <vt:lpstr>Reachability : Handling Uncertainty</vt:lpstr>
      <vt:lpstr>Computational Complexity</vt:lpstr>
      <vt:lpstr>Reachability : Case Study</vt:lpstr>
      <vt:lpstr>Reachability : Case Study</vt:lpstr>
      <vt:lpstr>Reachability : Case Study</vt:lpstr>
      <vt:lpstr>Reachability : Case Study</vt:lpstr>
      <vt:lpstr>Reachability : Case Study</vt:lpstr>
      <vt:lpstr>Reachability : Case Study</vt:lpstr>
      <vt:lpstr>Reachability : Case Study</vt:lpstr>
      <vt:lpstr>Reachability : Case Study</vt:lpstr>
      <vt:lpstr>Reachability : Case Study</vt:lpstr>
      <vt:lpstr>Reachability : Case Study</vt:lpstr>
      <vt:lpstr>Reachability : Case Study</vt:lpstr>
      <vt:lpstr>Reachability : Case Study</vt:lpstr>
      <vt:lpstr>The Information Propagation Framework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Edoardo Patelli</dc:creator>
  <cp:lastModifiedBy>Temitope Ohiani</cp:lastModifiedBy>
  <cp:revision>8</cp:revision>
  <dcterms:created xsi:type="dcterms:W3CDTF">2020-08-03T21:44:14Z</dcterms:created>
  <dcterms:modified xsi:type="dcterms:W3CDTF">2026-06-21T16:23:08Z</dcterms:modified>
</cp:coreProperties>
</file>